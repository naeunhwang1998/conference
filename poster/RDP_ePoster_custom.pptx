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1160252" cy="19799503"/>
  <p:notesSz cx="19799503" cy="111602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11160252" cy="3246120"/>
          </a:xfrm>
          <a:prstGeom prst="rect">
            <a:avLst/>
          </a:prstGeom>
          <a:solidFill>
            <a:srgbClr val="0C3B43"/>
          </a:solidFill>
          <a:ln/>
        </p:spPr>
      </p:sp>
      <p:sp>
        <p:nvSpPr>
          <p:cNvPr id="3" name="Logo tile"/>
          <p:cNvSpPr/>
          <p:nvPr/>
        </p:nvSpPr>
        <p:spPr>
          <a:xfrm>
            <a:off x="7136892" y="457200"/>
            <a:ext cx="3520440" cy="1772945"/>
          </a:xfrm>
          <a:prstGeom prst="roundRect">
            <a:avLst>
              <a:gd name="adj" fmla="val 6189"/>
            </a:avLst>
          </a:prstGeom>
          <a:solidFill>
            <a:srgbClr val="FFFFFF"/>
          </a:solidFill>
          <a:ln/>
        </p:spPr>
      </p:sp>
      <p:pic>
        <p:nvPicPr>
          <p:cNvPr id="4" name="IHPBA 2026 logo" descr="IHPBA 2026 Singapore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4052" y="594360"/>
            <a:ext cx="3246120" cy="1498625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502920" y="457200"/>
            <a:ext cx="65379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review of robotic distal pancreatectomy</a:t>
            </a:r>
            <a:endParaRPr lang="en-US" sz="3600" dirty="0"/>
          </a:p>
        </p:txBody>
      </p:sp>
      <p:sp>
        <p:nvSpPr>
          <p:cNvPr id="6" name="Authors"/>
          <p:cNvSpPr txBox="1"/>
          <p:nvPr/>
        </p:nvSpPr>
        <p:spPr>
          <a:xfrm>
            <a:off x="502920" y="2194560"/>
            <a:ext cx="10154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Naeun Hwang</a:t>
            </a:r>
            <a:pPr indent="0" marL="0">
              <a:buNone/>
            </a:pPr>
            <a:r>
              <a:rPr lang="en-US" sz="1700" b="1" baseline="3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 Sam Reddish</a:t>
            </a:r>
            <a:pPr indent="0" marL="0">
              <a:buNone/>
            </a:pPr>
            <a:r>
              <a:rPr lang="en-US" sz="1700" b="1" baseline="3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 Jonathan Koea</a:t>
            </a:r>
            <a:pPr indent="0" marL="0">
              <a:buNone/>
            </a:pPr>
            <a:r>
              <a:rPr lang="en-US" sz="1700" b="1" baseline="3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 Sanket Srinivasa</a:t>
            </a:r>
            <a:pPr indent="0" marL="0">
              <a:buNone/>
            </a:pPr>
            <a:r>
              <a:rPr lang="en-US" sz="1700" b="1" baseline="3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</a:t>
            </a:r>
            <a:endParaRPr lang="en-US" sz="1700" dirty="0"/>
          </a:p>
        </p:txBody>
      </p:sp>
      <p:sp>
        <p:nvSpPr>
          <p:cNvPr id="7" name="Affiliations"/>
          <p:cNvSpPr txBox="1"/>
          <p:nvPr/>
        </p:nvSpPr>
        <p:spPr>
          <a:xfrm>
            <a:off x="502920" y="2606040"/>
            <a:ext cx="101544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aseline="30000" dirty="0">
                <a:solidFill>
                  <a:srgbClr val="C9D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indent="0" marL="0">
              <a:buNone/>
            </a:pPr>
            <a:r>
              <a:rPr lang="en-US" sz="1150" dirty="0">
                <a:solidFill>
                  <a:srgbClr val="C9D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Upper GI Unit, Department of Surgery, Te Whatu Ora Waitematā, Auckland, New Zealand</a:t>
            </a:r>
            <a:endParaRPr lang="en-US" sz="1150" dirty="0"/>
          </a:p>
          <a:p>
            <a:pPr indent="0" marL="0">
              <a:buNone/>
            </a:pPr>
            <a:r>
              <a:rPr lang="en-US" sz="1150" baseline="30000" dirty="0">
                <a:solidFill>
                  <a:srgbClr val="C9D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indent="0" marL="0">
              <a:buNone/>
            </a:pPr>
            <a:r>
              <a:rPr lang="en-US" sz="1150" dirty="0">
                <a:solidFill>
                  <a:srgbClr val="C9D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Surgery, University of Auckland, Auckland, New Zealand</a:t>
            </a:r>
            <a:endParaRPr lang="en-US" sz="1150" dirty="0"/>
          </a:p>
        </p:txBody>
      </p:sp>
      <p:sp>
        <p:nvSpPr>
          <p:cNvPr id="8" name="Key message band"/>
          <p:cNvSpPr/>
          <p:nvPr/>
        </p:nvSpPr>
        <p:spPr>
          <a:xfrm>
            <a:off x="0" y="3246120"/>
            <a:ext cx="11160252" cy="3017520"/>
          </a:xfrm>
          <a:prstGeom prst="rect">
            <a:avLst/>
          </a:prstGeom>
          <a:solidFill>
            <a:srgbClr val="E8F2F1"/>
          </a:solidFill>
          <a:ln/>
        </p:spPr>
      </p:sp>
      <p:sp>
        <p:nvSpPr>
          <p:cNvPr id="9" name="Key message"/>
          <p:cNvSpPr txBox="1"/>
          <p:nvPr/>
        </p:nvSpPr>
        <p:spPr>
          <a:xfrm>
            <a:off x="502920" y="3520440"/>
            <a:ext cx="101544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C3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 distal pancreatectomy (RDP) </a:t>
            </a:r>
            <a:pPr indent="0" marL="0">
              <a:buNone/>
            </a:pPr>
            <a:r>
              <a:rPr lang="en-US" sz="1900" dirty="0">
                <a:solidFill>
                  <a:srgbClr val="1D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or improves on laparoscopic surgery and outperforms open surgery, at a similar overall cost to laparoscopy.</a:t>
            </a:r>
            <a:endParaRPr lang="en-US" sz="1900" dirty="0"/>
          </a:p>
        </p:txBody>
      </p:sp>
      <p:sp>
        <p:nvSpPr>
          <p:cNvPr id="10" name="Stat ≈1 day"/>
          <p:cNvSpPr/>
          <p:nvPr/>
        </p:nvSpPr>
        <p:spPr>
          <a:xfrm>
            <a:off x="502920" y="4434840"/>
            <a:ext cx="2387727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1370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4544568"/>
            <a:ext cx="220484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≈1 day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5212080"/>
            <a:ext cx="211340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shorter hospital stay than laparoscopic</a:t>
            </a:r>
            <a:endParaRPr lang="en-US" sz="1200" dirty="0"/>
          </a:p>
        </p:txBody>
      </p:sp>
      <p:sp>
        <p:nvSpPr>
          <p:cNvPr id="13" name="Stat 0%"/>
          <p:cNvSpPr/>
          <p:nvPr/>
        </p:nvSpPr>
        <p:spPr>
          <a:xfrm>
            <a:off x="3091815" y="4434840"/>
            <a:ext cx="2387727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13707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183255" y="4544568"/>
            <a:ext cx="220484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3228975" y="5212080"/>
            <a:ext cx="211340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margins (laparoscopic 2%)</a:t>
            </a:r>
            <a:endParaRPr lang="en-US" sz="1200" dirty="0"/>
          </a:p>
        </p:txBody>
      </p:sp>
      <p:sp>
        <p:nvSpPr>
          <p:cNvPr id="16" name="Stat ≤ LDP"/>
          <p:cNvSpPr/>
          <p:nvPr/>
        </p:nvSpPr>
        <p:spPr>
          <a:xfrm>
            <a:off x="5680710" y="4434840"/>
            <a:ext cx="2387727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13707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772150" y="4544568"/>
            <a:ext cx="220484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 LDP</a:t>
            </a:r>
            <a:endParaRPr lang="en-US" sz="3000" dirty="0"/>
          </a:p>
        </p:txBody>
      </p:sp>
      <p:sp>
        <p:nvSpPr>
          <p:cNvPr id="18" name="Text 15"/>
          <p:cNvSpPr txBox="1"/>
          <p:nvPr/>
        </p:nvSpPr>
        <p:spPr>
          <a:xfrm>
            <a:off x="5817870" y="5212080"/>
            <a:ext cx="211340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cost; well below open surgery</a:t>
            </a:r>
            <a:endParaRPr lang="en-US" sz="1200" dirty="0"/>
          </a:p>
        </p:txBody>
      </p:sp>
      <p:sp>
        <p:nvSpPr>
          <p:cNvPr id="19" name="Stat +30 min"/>
          <p:cNvSpPr/>
          <p:nvPr/>
        </p:nvSpPr>
        <p:spPr>
          <a:xfrm>
            <a:off x="8269605" y="4434840"/>
            <a:ext cx="2387727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B8892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361045" y="4544568"/>
            <a:ext cx="220484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8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 min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8406765" y="5212080"/>
            <a:ext cx="211340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time vs laparoscopic, mostly docking</a:t>
            </a:r>
            <a:endParaRPr lang="en-US" sz="1200" dirty="0"/>
          </a:p>
        </p:txBody>
      </p:sp>
      <p:sp>
        <p:nvSpPr>
          <p:cNvPr id="22" name="Section number 1"/>
          <p:cNvSpPr/>
          <p:nvPr/>
        </p:nvSpPr>
        <p:spPr>
          <a:xfrm>
            <a:off x="502920" y="6647688"/>
            <a:ext cx="457200" cy="457200"/>
          </a:xfrm>
          <a:prstGeom prst="ellipse">
            <a:avLst/>
          </a:prstGeom>
          <a:solidFill>
            <a:srgbClr val="D63A47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02920" y="6647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24" name="Section title Background &amp;amp; aim"/>
          <p:cNvSpPr txBox="1"/>
          <p:nvPr/>
        </p:nvSpPr>
        <p:spPr>
          <a:xfrm>
            <a:off x="1097280" y="6647688"/>
            <a:ext cx="4277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3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&amp; aim</a:t>
            </a:r>
            <a:endParaRPr lang="en-US" sz="2000" dirty="0"/>
          </a:p>
        </p:txBody>
      </p:sp>
      <p:sp>
        <p:nvSpPr>
          <p:cNvPr id="25" name="Background bullets"/>
          <p:cNvSpPr txBox="1"/>
          <p:nvPr/>
        </p:nvSpPr>
        <p:spPr>
          <a:xfrm>
            <a:off x="502920" y="7306056"/>
            <a:ext cx="487146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Distal pancreatectomy has moved from open (ODP) to minimally invasive surgery: laparoscopic (LDP) and robotic (RDP).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LDP is established but limited by dexterity and visualisation.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RDP's technical gains translate into better outcomes is still debated.</a:t>
            </a:r>
            <a:endParaRPr lang="en-US" sz="1350" dirty="0"/>
          </a:p>
        </p:txBody>
      </p:sp>
      <p:sp>
        <p:nvSpPr>
          <p:cNvPr id="26" name="Aim box"/>
          <p:cNvSpPr/>
          <p:nvPr/>
        </p:nvSpPr>
        <p:spPr>
          <a:xfrm>
            <a:off x="502920" y="8787384"/>
            <a:ext cx="4871466" cy="914400"/>
          </a:xfrm>
          <a:prstGeom prst="roundRect">
            <a:avLst>
              <a:gd name="adj" fmla="val 8000"/>
            </a:avLst>
          </a:prstGeom>
          <a:solidFill>
            <a:srgbClr val="E8F2F1"/>
          </a:solidFill>
          <a:ln/>
        </p:spPr>
      </p:sp>
      <p:sp>
        <p:nvSpPr>
          <p:cNvPr id="27" name="Aim"/>
          <p:cNvSpPr txBox="1"/>
          <p:nvPr/>
        </p:nvSpPr>
        <p:spPr>
          <a:xfrm>
            <a:off x="685800" y="8787384"/>
            <a:ext cx="45057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6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  </a:t>
            </a:r>
            <a:pPr indent="0" marL="0">
              <a:buNone/>
            </a:pPr>
            <a:r>
              <a:rPr lang="en-US" sz="1350" dirty="0">
                <a:solidFill>
                  <a:srgbClr val="1D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RDP with ODP and LDP: technique, outcomes, cost-effectiveness and challenges.</a:t>
            </a:r>
            <a:endParaRPr lang="en-US" sz="1350" dirty="0"/>
          </a:p>
        </p:txBody>
      </p:sp>
      <p:sp>
        <p:nvSpPr>
          <p:cNvPr id="28" name="Section number 2"/>
          <p:cNvSpPr/>
          <p:nvPr/>
        </p:nvSpPr>
        <p:spPr>
          <a:xfrm>
            <a:off x="502920" y="10085832"/>
            <a:ext cx="457200" cy="457200"/>
          </a:xfrm>
          <a:prstGeom prst="ellipse">
            <a:avLst/>
          </a:prstGeom>
          <a:solidFill>
            <a:srgbClr val="D63A47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2920" y="10085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30" name="Section title Why robotic?"/>
          <p:cNvSpPr txBox="1"/>
          <p:nvPr/>
        </p:nvSpPr>
        <p:spPr>
          <a:xfrm>
            <a:off x="1097280" y="10085832"/>
            <a:ext cx="4277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3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robotic?</a:t>
            </a:r>
            <a:endParaRPr lang="en-US" sz="2000" dirty="0"/>
          </a:p>
        </p:txBody>
      </p:sp>
      <p:sp>
        <p:nvSpPr>
          <p:cNvPr id="31" name="Advantage icon bg 3D magnified"/>
          <p:cNvSpPr/>
          <p:nvPr/>
        </p:nvSpPr>
        <p:spPr>
          <a:xfrm>
            <a:off x="676370" y="10744200"/>
            <a:ext cx="768096" cy="768096"/>
          </a:xfrm>
          <a:prstGeom prst="ellipse">
            <a:avLst/>
          </a:prstGeom>
          <a:solidFill>
            <a:srgbClr val="13707A"/>
          </a:solidFill>
          <a:ln/>
        </p:spPr>
      </p:sp>
      <p:pic>
        <p:nvPicPr>
          <p:cNvPr id="32" name="Image 1" descr="3D magnified visualis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962" y="10908792"/>
            <a:ext cx="438912" cy="438912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502920" y="11612880"/>
            <a:ext cx="111499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C3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magnified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C3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visualisation</a:t>
            </a:r>
            <a:endParaRPr lang="en-US" sz="1150" dirty="0"/>
          </a:p>
        </p:txBody>
      </p:sp>
      <p:sp>
        <p:nvSpPr>
          <p:cNvPr id="34" name="Advantage icon bg Tremor"/>
          <p:cNvSpPr/>
          <p:nvPr/>
        </p:nvSpPr>
        <p:spPr>
          <a:xfrm>
            <a:off x="1928527" y="10744200"/>
            <a:ext cx="768096" cy="768096"/>
          </a:xfrm>
          <a:prstGeom prst="ellipse">
            <a:avLst/>
          </a:prstGeom>
          <a:solidFill>
            <a:srgbClr val="13707A"/>
          </a:solidFill>
          <a:ln/>
        </p:spPr>
      </p:sp>
      <p:pic>
        <p:nvPicPr>
          <p:cNvPr id="35" name="Image 2" descr="Tremor filtr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119" y="10908792"/>
            <a:ext cx="438912" cy="438912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1755077" y="11612880"/>
            <a:ext cx="111499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C3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Tremor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C3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filtration</a:t>
            </a:r>
            <a:endParaRPr lang="en-US" sz="1150" dirty="0"/>
          </a:p>
        </p:txBody>
      </p:sp>
      <p:sp>
        <p:nvSpPr>
          <p:cNvPr id="37" name="Advantage icon bg Motion"/>
          <p:cNvSpPr/>
          <p:nvPr/>
        </p:nvSpPr>
        <p:spPr>
          <a:xfrm>
            <a:off x="3180683" y="10744200"/>
            <a:ext cx="768096" cy="768096"/>
          </a:xfrm>
          <a:prstGeom prst="ellipse">
            <a:avLst/>
          </a:prstGeom>
          <a:solidFill>
            <a:srgbClr val="13707A"/>
          </a:solidFill>
          <a:ln/>
        </p:spPr>
      </p:sp>
      <p:pic>
        <p:nvPicPr>
          <p:cNvPr id="38" name="Image 3" descr="Motion scal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5275" y="10908792"/>
            <a:ext cx="438912" cy="438912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3007233" y="11612880"/>
            <a:ext cx="111499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C3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C3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</a:t>
            </a:r>
            <a:endParaRPr lang="en-US" sz="1150" dirty="0"/>
          </a:p>
        </p:txBody>
      </p:sp>
      <p:sp>
        <p:nvSpPr>
          <p:cNvPr id="40" name="Advantage icon bg Wristed"/>
          <p:cNvSpPr/>
          <p:nvPr/>
        </p:nvSpPr>
        <p:spPr>
          <a:xfrm>
            <a:off x="4432840" y="10744200"/>
            <a:ext cx="768096" cy="768096"/>
          </a:xfrm>
          <a:prstGeom prst="ellipse">
            <a:avLst/>
          </a:prstGeom>
          <a:solidFill>
            <a:srgbClr val="13707A"/>
          </a:solidFill>
          <a:ln/>
        </p:spPr>
      </p:sp>
      <p:pic>
        <p:nvPicPr>
          <p:cNvPr id="41" name="Image 4" descr="Wristed instrument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7432" y="10908792"/>
            <a:ext cx="438912" cy="438912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4259390" y="11612880"/>
            <a:ext cx="111499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C3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Wristed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C3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instruments</a:t>
            </a:r>
            <a:endParaRPr lang="en-US" sz="1150" dirty="0"/>
          </a:p>
        </p:txBody>
      </p:sp>
      <p:sp>
        <p:nvSpPr>
          <p:cNvPr id="43" name="Platforms note"/>
          <p:cNvSpPr txBox="1"/>
          <p:nvPr/>
        </p:nvSpPr>
        <p:spPr>
          <a:xfrm>
            <a:off x="502920" y="12207240"/>
            <a:ext cx="48714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C3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Platforms: </a:t>
            </a:r>
            <a:pPr indent="0" marL="0">
              <a:buNone/>
            </a:pPr>
            <a:r>
              <a:rPr lang="en-US" sz="1150" dirty="0">
                <a:solidFill>
                  <a:srgbClr val="5B6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all evidence is from da Vinci; Versius and hinotori™ have only early case reports.</a:t>
            </a:r>
            <a:endParaRPr lang="en-US" sz="1150" dirty="0"/>
          </a:p>
        </p:txBody>
      </p:sp>
      <p:sp>
        <p:nvSpPr>
          <p:cNvPr id="44" name="Section number 3"/>
          <p:cNvSpPr/>
          <p:nvPr/>
        </p:nvSpPr>
        <p:spPr>
          <a:xfrm>
            <a:off x="502920" y="13030200"/>
            <a:ext cx="457200" cy="457200"/>
          </a:xfrm>
          <a:prstGeom prst="ellipse">
            <a:avLst/>
          </a:prstGeom>
          <a:solidFill>
            <a:srgbClr val="D63A47"/>
          </a:solidFill>
          <a:ln/>
        </p:spPr>
      </p:sp>
      <p:sp>
        <p:nvSpPr>
          <p:cNvPr id="45" name="Text 38"/>
          <p:cNvSpPr txBox="1"/>
          <p:nvPr/>
        </p:nvSpPr>
        <p:spPr>
          <a:xfrm>
            <a:off x="502920" y="1303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6" name="Section title Operative technique"/>
          <p:cNvSpPr txBox="1"/>
          <p:nvPr/>
        </p:nvSpPr>
        <p:spPr>
          <a:xfrm>
            <a:off x="1097280" y="13030200"/>
            <a:ext cx="4277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3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Operative technique</a:t>
            </a:r>
            <a:endParaRPr lang="en-US" sz="2000" dirty="0"/>
          </a:p>
        </p:txBody>
      </p:sp>
      <p:sp>
        <p:nvSpPr>
          <p:cNvPr id="47" name="Figure frame"/>
          <p:cNvSpPr/>
          <p:nvPr/>
        </p:nvSpPr>
        <p:spPr>
          <a:xfrm>
            <a:off x="502920" y="13688568"/>
            <a:ext cx="2331720" cy="2580271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FDCDD"/>
            </a:solidFill>
            <a:prstDash val="solid"/>
          </a:ln>
        </p:spPr>
      </p:sp>
      <p:pic>
        <p:nvPicPr>
          <p:cNvPr id="48" name="Figure 1" descr="Fig. 1 Port placement for robotic distal pancreatectom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13780008"/>
            <a:ext cx="2148840" cy="2397391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502920" y="16341991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1 </a:t>
            </a:r>
            <a:pPr algn="ctr" indent="0" marL="0">
              <a:buNone/>
            </a:pPr>
            <a:r>
              <a:rPr lang="en-US" sz="1100" dirty="0">
                <a:solidFill>
                  <a:srgbClr val="5B6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placement</a:t>
            </a:r>
            <a:endParaRPr lang="en-US" sz="1100" dirty="0"/>
          </a:p>
        </p:txBody>
      </p:sp>
      <p:sp>
        <p:nvSpPr>
          <p:cNvPr id="50" name="Step 1"/>
          <p:cNvSpPr/>
          <p:nvPr/>
        </p:nvSpPr>
        <p:spPr>
          <a:xfrm>
            <a:off x="3063240" y="13706856"/>
            <a:ext cx="329184" cy="329184"/>
          </a:xfrm>
          <a:prstGeom prst="ellipse">
            <a:avLst/>
          </a:prstGeom>
          <a:solidFill>
            <a:srgbClr val="0C3B43"/>
          </a:solidFill>
          <a:ln/>
        </p:spPr>
      </p:sp>
      <p:sp>
        <p:nvSpPr>
          <p:cNvPr id="51" name="Text 43"/>
          <p:cNvSpPr txBox="1"/>
          <p:nvPr/>
        </p:nvSpPr>
        <p:spPr>
          <a:xfrm>
            <a:off x="3063240" y="13706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52" name="Text 44"/>
          <p:cNvSpPr txBox="1"/>
          <p:nvPr/>
        </p:nvSpPr>
        <p:spPr>
          <a:xfrm>
            <a:off x="3502152" y="13688568"/>
            <a:ext cx="18722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C3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Supine; reverse Trendelenburg; dock</a:t>
            </a:r>
            <a:endParaRPr lang="en-US" sz="1200" dirty="0"/>
          </a:p>
        </p:txBody>
      </p:sp>
      <p:sp>
        <p:nvSpPr>
          <p:cNvPr id="53" name="Step 2"/>
          <p:cNvSpPr/>
          <p:nvPr/>
        </p:nvSpPr>
        <p:spPr>
          <a:xfrm>
            <a:off x="3063240" y="14365224"/>
            <a:ext cx="329184" cy="329184"/>
          </a:xfrm>
          <a:prstGeom prst="ellipse">
            <a:avLst/>
          </a:prstGeom>
          <a:solidFill>
            <a:srgbClr val="0C3B43"/>
          </a:solidFill>
          <a:ln/>
        </p:spPr>
      </p:sp>
      <p:sp>
        <p:nvSpPr>
          <p:cNvPr id="54" name="Text 46"/>
          <p:cNvSpPr txBox="1"/>
          <p:nvPr/>
        </p:nvSpPr>
        <p:spPr>
          <a:xfrm>
            <a:off x="3063240" y="14365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5" name="Text 47"/>
          <p:cNvSpPr txBox="1"/>
          <p:nvPr/>
        </p:nvSpPr>
        <p:spPr>
          <a:xfrm>
            <a:off x="3502152" y="14346936"/>
            <a:ext cx="18722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C3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lesser sac</a:t>
            </a:r>
            <a:endParaRPr lang="en-US" sz="1200" dirty="0"/>
          </a:p>
        </p:txBody>
      </p:sp>
      <p:sp>
        <p:nvSpPr>
          <p:cNvPr id="56" name="Step 3"/>
          <p:cNvSpPr/>
          <p:nvPr/>
        </p:nvSpPr>
        <p:spPr>
          <a:xfrm>
            <a:off x="3063240" y="15023592"/>
            <a:ext cx="329184" cy="329184"/>
          </a:xfrm>
          <a:prstGeom prst="ellipse">
            <a:avLst/>
          </a:prstGeom>
          <a:solidFill>
            <a:srgbClr val="0C3B43"/>
          </a:solidFill>
          <a:ln/>
        </p:spPr>
      </p:sp>
      <p:sp>
        <p:nvSpPr>
          <p:cNvPr id="57" name="Text 49"/>
          <p:cNvSpPr txBox="1"/>
          <p:nvPr/>
        </p:nvSpPr>
        <p:spPr>
          <a:xfrm>
            <a:off x="3063240" y="15023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8" name="Text 50"/>
          <p:cNvSpPr txBox="1"/>
          <p:nvPr/>
        </p:nvSpPr>
        <p:spPr>
          <a:xfrm>
            <a:off x="3502152" y="15005304"/>
            <a:ext cx="18722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C3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Splenic artery and vein</a:t>
            </a:r>
            <a:endParaRPr lang="en-US" sz="1200" dirty="0"/>
          </a:p>
        </p:txBody>
      </p:sp>
      <p:sp>
        <p:nvSpPr>
          <p:cNvPr id="59" name="Step 4"/>
          <p:cNvSpPr/>
          <p:nvPr/>
        </p:nvSpPr>
        <p:spPr>
          <a:xfrm>
            <a:off x="3063240" y="15681960"/>
            <a:ext cx="329184" cy="329184"/>
          </a:xfrm>
          <a:prstGeom prst="ellipse">
            <a:avLst/>
          </a:prstGeom>
          <a:solidFill>
            <a:srgbClr val="0C3B43"/>
          </a:solidFill>
          <a:ln/>
        </p:spPr>
      </p:sp>
      <p:sp>
        <p:nvSpPr>
          <p:cNvPr id="60" name="Text 52"/>
          <p:cNvSpPr txBox="1"/>
          <p:nvPr/>
        </p:nvSpPr>
        <p:spPr>
          <a:xfrm>
            <a:off x="3063240" y="15681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61" name="Text 53"/>
          <p:cNvSpPr txBox="1"/>
          <p:nvPr/>
        </p:nvSpPr>
        <p:spPr>
          <a:xfrm>
            <a:off x="3502152" y="15663672"/>
            <a:ext cx="18722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C3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Pancreas, clear margin</a:t>
            </a:r>
            <a:endParaRPr lang="en-US" sz="1200" dirty="0"/>
          </a:p>
        </p:txBody>
      </p:sp>
      <p:sp>
        <p:nvSpPr>
          <p:cNvPr id="62" name="Step 5"/>
          <p:cNvSpPr/>
          <p:nvPr/>
        </p:nvSpPr>
        <p:spPr>
          <a:xfrm>
            <a:off x="3063240" y="16340328"/>
            <a:ext cx="329184" cy="329184"/>
          </a:xfrm>
          <a:prstGeom prst="ellipse">
            <a:avLst/>
          </a:prstGeom>
          <a:solidFill>
            <a:srgbClr val="0C3B43"/>
          </a:solidFill>
          <a:ln/>
        </p:spPr>
      </p:sp>
      <p:sp>
        <p:nvSpPr>
          <p:cNvPr id="63" name="Text 55"/>
          <p:cNvSpPr txBox="1"/>
          <p:nvPr/>
        </p:nvSpPr>
        <p:spPr>
          <a:xfrm>
            <a:off x="3063240" y="16340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64" name="Text 56"/>
          <p:cNvSpPr txBox="1"/>
          <p:nvPr/>
        </p:nvSpPr>
        <p:spPr>
          <a:xfrm>
            <a:off x="3502152" y="16322040"/>
            <a:ext cx="18722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C3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bloc ± spleen</a:t>
            </a:r>
            <a:endParaRPr lang="en-US" sz="1200" dirty="0"/>
          </a:p>
        </p:txBody>
      </p:sp>
      <p:sp>
        <p:nvSpPr>
          <p:cNvPr id="65" name="Spleen note"/>
          <p:cNvSpPr txBox="1"/>
          <p:nvPr/>
        </p:nvSpPr>
        <p:spPr>
          <a:xfrm>
            <a:off x="3063240" y="17026128"/>
            <a:ext cx="23111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C3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Spleen preserving: </a:t>
            </a:r>
            <a:pPr indent="0" marL="0">
              <a:buNone/>
            </a:pPr>
            <a:r>
              <a:rPr lang="en-US" sz="1150" dirty="0">
                <a:solidFill>
                  <a:srgbClr val="1D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splenic vessel preservation or Warshaw technique</a:t>
            </a:r>
            <a:endParaRPr lang="en-US" sz="1150" dirty="0"/>
          </a:p>
        </p:txBody>
      </p:sp>
      <p:sp>
        <p:nvSpPr>
          <p:cNvPr id="66" name="Section number 4"/>
          <p:cNvSpPr/>
          <p:nvPr/>
        </p:nvSpPr>
        <p:spPr>
          <a:xfrm>
            <a:off x="5785866" y="6647688"/>
            <a:ext cx="457200" cy="457200"/>
          </a:xfrm>
          <a:prstGeom prst="ellipse">
            <a:avLst/>
          </a:prstGeom>
          <a:solidFill>
            <a:srgbClr val="D63A47"/>
          </a:solidFill>
          <a:ln/>
        </p:spPr>
      </p:sp>
      <p:sp>
        <p:nvSpPr>
          <p:cNvPr id="67" name="Text 59"/>
          <p:cNvSpPr txBox="1"/>
          <p:nvPr/>
        </p:nvSpPr>
        <p:spPr>
          <a:xfrm>
            <a:off x="5785866" y="6647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68" name="Section title Clinical outcomes of RDP"/>
          <p:cNvSpPr txBox="1"/>
          <p:nvPr/>
        </p:nvSpPr>
        <p:spPr>
          <a:xfrm>
            <a:off x="6380226" y="6647688"/>
            <a:ext cx="4277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3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outcomes of RDP</a:t>
            </a:r>
            <a:endParaRPr lang="en-US" sz="2000" dirty="0"/>
          </a:p>
        </p:txBody>
      </p:sp>
      <p:graphicFrame>
        <p:nvGraphicFramePr>
          <p:cNvPr id="2" name="Outcom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85866" y="7306056"/>
          <a:ext cx="4871466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691640"/>
                <a:gridCol w="1762506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Outcome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RDP vs open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RDP vs laparoscopic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B4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C3B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Blood loss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38100" marB="381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▼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▼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Lower (planned SP)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C3B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Complications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38100" marB="381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▼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Fewer (fistula, wound)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B6A6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 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A6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Similar overall and fistula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C3B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Hospital stay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38100" marB="381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▼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▼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≈1 day shorter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C3B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38100" marB="381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A6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applicable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▼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Fewer to open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C3B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Spleen preservation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38100" marB="381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C3B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Oncological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38100" marB="381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B6A6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 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A6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Non-inferior R0 and nodes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 vs 2% R1; more nodes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C3B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Operative time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76200" marT="38100" marB="381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B6A6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 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A6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Conflicting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8641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8641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≈30 min longer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D"/>
                    </a:solidFill>
                  </a:tcPr>
                </a:tc>
              </a:tr>
            </a:tbl>
          </a:graphicData>
        </a:graphic>
      </p:graphicFrame>
      <p:sp>
        <p:nvSpPr>
          <p:cNvPr id="70" name="Table key"/>
          <p:cNvSpPr txBox="1"/>
          <p:nvPr/>
        </p:nvSpPr>
        <p:spPr>
          <a:xfrm>
            <a:off x="5785866" y="11064240"/>
            <a:ext cx="48714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pPr indent="0" marL="0">
              <a:buNone/>
            </a:pPr>
            <a:r>
              <a:rPr lang="en-US" sz="1000" dirty="0">
                <a:solidFill>
                  <a:srgbClr val="5B6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favours RDP  </a:t>
            </a:r>
            <a:pPr indent="0" marL="0">
              <a:buNone/>
            </a:pPr>
            <a:r>
              <a:rPr lang="en-US" sz="1000" dirty="0">
                <a:solidFill>
                  <a:srgbClr val="5B6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pPr indent="0" marL="0">
              <a:buNone/>
            </a:pPr>
            <a:r>
              <a:rPr lang="en-US" sz="1000" dirty="0">
                <a:solidFill>
                  <a:srgbClr val="5B6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clear difference  </a:t>
            </a:r>
            <a:pPr indent="0" marL="0">
              <a:buNone/>
            </a:pPr>
            <a:r>
              <a:rPr lang="en-US" sz="1000" dirty="0">
                <a:solidFill>
                  <a:srgbClr val="B86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pPr indent="0" marL="0">
              <a:buNone/>
            </a:pPr>
            <a:r>
              <a:rPr lang="en-US" sz="1000" dirty="0">
                <a:solidFill>
                  <a:srgbClr val="5B6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favours comparator  </a:t>
            </a:r>
            <a:pPr indent="0" marL="0">
              <a:buNone/>
            </a:pPr>
            <a:r>
              <a:rPr lang="en-US" sz="1000" dirty="0">
                <a:solidFill>
                  <a:srgbClr val="5B6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SP, spleen preservation</a:t>
            </a:r>
            <a:endParaRPr lang="en-US" sz="1000" dirty="0"/>
          </a:p>
        </p:txBody>
      </p:sp>
      <p:sp>
        <p:nvSpPr>
          <p:cNvPr id="71" name="Section number 5"/>
          <p:cNvSpPr/>
          <p:nvPr/>
        </p:nvSpPr>
        <p:spPr>
          <a:xfrm>
            <a:off x="5785866" y="11704320"/>
            <a:ext cx="457200" cy="457200"/>
          </a:xfrm>
          <a:prstGeom prst="ellipse">
            <a:avLst/>
          </a:prstGeom>
          <a:solidFill>
            <a:srgbClr val="D63A47"/>
          </a:solidFill>
          <a:ln/>
        </p:spPr>
      </p:sp>
      <p:sp>
        <p:nvSpPr>
          <p:cNvPr id="72" name="Text 63"/>
          <p:cNvSpPr txBox="1"/>
          <p:nvPr/>
        </p:nvSpPr>
        <p:spPr>
          <a:xfrm>
            <a:off x="5785866" y="1170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73" name="Section title Cost-effectiveness"/>
          <p:cNvSpPr txBox="1"/>
          <p:nvPr/>
        </p:nvSpPr>
        <p:spPr>
          <a:xfrm>
            <a:off x="6380226" y="11704320"/>
            <a:ext cx="4277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3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Cost-effectiveness</a:t>
            </a:r>
            <a:endParaRPr lang="en-US" sz="2000" dirty="0"/>
          </a:p>
        </p:txBody>
      </p:sp>
      <p:sp>
        <p:nvSpPr>
          <p:cNvPr id="74" name="Cost chip Operative cost"/>
          <p:cNvSpPr/>
          <p:nvPr/>
        </p:nvSpPr>
        <p:spPr>
          <a:xfrm>
            <a:off x="5785866" y="12362688"/>
            <a:ext cx="1532382" cy="868680"/>
          </a:xfrm>
          <a:prstGeom prst="roundRect">
            <a:avLst>
              <a:gd name="adj" fmla="val 8421"/>
            </a:avLst>
          </a:prstGeom>
          <a:solidFill>
            <a:srgbClr val="FCEFDD"/>
          </a:solidFill>
          <a:ln/>
        </p:spPr>
      </p:sp>
      <p:sp>
        <p:nvSpPr>
          <p:cNvPr id="75" name="Text 66"/>
          <p:cNvSpPr txBox="1"/>
          <p:nvPr/>
        </p:nvSpPr>
        <p:spPr>
          <a:xfrm>
            <a:off x="5831586" y="12362688"/>
            <a:ext cx="144094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Operative cost</a:t>
            </a:r>
            <a:endParaRPr lang="en-US" sz="11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B86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RDP higher</a:t>
            </a:r>
            <a:endParaRPr lang="en-US" sz="1100" dirty="0"/>
          </a:p>
        </p:txBody>
      </p:sp>
      <p:sp>
        <p:nvSpPr>
          <p:cNvPr id="76" name="Cost chip Overall cost"/>
          <p:cNvSpPr/>
          <p:nvPr/>
        </p:nvSpPr>
        <p:spPr>
          <a:xfrm>
            <a:off x="7455408" y="12362688"/>
            <a:ext cx="1532382" cy="868680"/>
          </a:xfrm>
          <a:prstGeom prst="roundRect">
            <a:avLst>
              <a:gd name="adj" fmla="val 8421"/>
            </a:avLst>
          </a:prstGeom>
          <a:solidFill>
            <a:srgbClr val="E3F2E8"/>
          </a:solidFill>
          <a:ln/>
        </p:spPr>
      </p:sp>
      <p:sp>
        <p:nvSpPr>
          <p:cNvPr id="77" name="Text 68"/>
          <p:cNvSpPr txBox="1"/>
          <p:nvPr/>
        </p:nvSpPr>
        <p:spPr>
          <a:xfrm>
            <a:off x="7501128" y="12362688"/>
            <a:ext cx="144094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cost</a:t>
            </a:r>
            <a:endParaRPr lang="en-US" sz="11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RDP ≤ LDP &lt; ODP</a:t>
            </a:r>
            <a:endParaRPr lang="en-US" sz="1100" dirty="0"/>
          </a:p>
        </p:txBody>
      </p:sp>
      <p:sp>
        <p:nvSpPr>
          <p:cNvPr id="78" name="Cost chip Quality of life"/>
          <p:cNvSpPr/>
          <p:nvPr/>
        </p:nvSpPr>
        <p:spPr>
          <a:xfrm>
            <a:off x="9124950" y="12362688"/>
            <a:ext cx="1532382" cy="868680"/>
          </a:xfrm>
          <a:prstGeom prst="roundRect">
            <a:avLst>
              <a:gd name="adj" fmla="val 8421"/>
            </a:avLst>
          </a:prstGeom>
          <a:solidFill>
            <a:srgbClr val="E3F2E8"/>
          </a:solidFill>
          <a:ln/>
        </p:spPr>
      </p:sp>
      <p:sp>
        <p:nvSpPr>
          <p:cNvPr id="79" name="Text 70"/>
          <p:cNvSpPr txBox="1"/>
          <p:nvPr/>
        </p:nvSpPr>
        <p:spPr>
          <a:xfrm>
            <a:off x="9170670" y="12362688"/>
            <a:ext cx="144094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of life</a:t>
            </a:r>
            <a:endParaRPr lang="en-US" sz="11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RDP &gt; LDP</a:t>
            </a:r>
            <a:endParaRPr lang="en-US" sz="1100" dirty="0"/>
          </a:p>
        </p:txBody>
      </p:sp>
      <p:sp>
        <p:nvSpPr>
          <p:cNvPr id="80" name="Cost bullets"/>
          <p:cNvSpPr txBox="1"/>
          <p:nvPr/>
        </p:nvSpPr>
        <p:spPr>
          <a:xfrm>
            <a:off x="5785866" y="13368528"/>
            <a:ext cx="487146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Theatre costs are offset by shorter stay, fewer conversions and lower morbidity.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 fall as case volume grows.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QALYs than LDP at similar cost (ROBOCOSTES and others).</a:t>
            </a:r>
            <a:endParaRPr lang="en-US" sz="1350" dirty="0"/>
          </a:p>
        </p:txBody>
      </p:sp>
      <p:sp>
        <p:nvSpPr>
          <p:cNvPr id="81" name="Section number 6"/>
          <p:cNvSpPr/>
          <p:nvPr/>
        </p:nvSpPr>
        <p:spPr>
          <a:xfrm>
            <a:off x="5785866" y="14923008"/>
            <a:ext cx="457200" cy="457200"/>
          </a:xfrm>
          <a:prstGeom prst="ellipse">
            <a:avLst/>
          </a:prstGeom>
          <a:solidFill>
            <a:srgbClr val="D63A47"/>
          </a:solidFill>
          <a:ln/>
        </p:spPr>
      </p:sp>
      <p:sp>
        <p:nvSpPr>
          <p:cNvPr id="82" name="Text 73"/>
          <p:cNvSpPr txBox="1"/>
          <p:nvPr/>
        </p:nvSpPr>
        <p:spPr>
          <a:xfrm>
            <a:off x="5785866" y="1492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83" name="Section title Challenges"/>
          <p:cNvSpPr txBox="1"/>
          <p:nvPr/>
        </p:nvSpPr>
        <p:spPr>
          <a:xfrm>
            <a:off x="6380226" y="14923008"/>
            <a:ext cx="4277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3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2000" dirty="0"/>
          </a:p>
        </p:txBody>
      </p:sp>
      <p:sp>
        <p:nvSpPr>
          <p:cNvPr id="84" name="Challenge icon bg Operative time"/>
          <p:cNvSpPr/>
          <p:nvPr/>
        </p:nvSpPr>
        <p:spPr>
          <a:xfrm>
            <a:off x="5785866" y="15581376"/>
            <a:ext cx="548640" cy="548640"/>
          </a:xfrm>
          <a:prstGeom prst="ellipse">
            <a:avLst/>
          </a:prstGeom>
          <a:solidFill>
            <a:srgbClr val="B8892B"/>
          </a:solidFill>
          <a:ln/>
        </p:spPr>
      </p:sp>
      <p:pic>
        <p:nvPicPr>
          <p:cNvPr id="85" name="Image 6" descr="Operative tim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3026" y="15718536"/>
            <a:ext cx="274320" cy="274320"/>
          </a:xfrm>
          <a:prstGeom prst="rect">
            <a:avLst/>
          </a:prstGeom>
        </p:spPr>
      </p:pic>
      <p:sp>
        <p:nvSpPr>
          <p:cNvPr id="86" name="Text 76"/>
          <p:cNvSpPr txBox="1"/>
          <p:nvPr/>
        </p:nvSpPr>
        <p:spPr>
          <a:xfrm>
            <a:off x="6517386" y="15563088"/>
            <a:ext cx="41399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C3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Operative time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Docking adds time; falls along the learning curve</a:t>
            </a:r>
            <a:endParaRPr lang="en-US" sz="1250" dirty="0"/>
          </a:p>
        </p:txBody>
      </p:sp>
      <p:sp>
        <p:nvSpPr>
          <p:cNvPr id="87" name="Challenge icon bg Team &amp; training"/>
          <p:cNvSpPr/>
          <p:nvPr/>
        </p:nvSpPr>
        <p:spPr>
          <a:xfrm>
            <a:off x="5785866" y="16276320"/>
            <a:ext cx="548640" cy="548640"/>
          </a:xfrm>
          <a:prstGeom prst="ellipse">
            <a:avLst/>
          </a:prstGeom>
          <a:solidFill>
            <a:srgbClr val="B8892B"/>
          </a:solidFill>
          <a:ln/>
        </p:spPr>
      </p:sp>
      <p:pic>
        <p:nvPicPr>
          <p:cNvPr id="88" name="Image 7" descr="Team &amp; traini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3026" y="16413480"/>
            <a:ext cx="274320" cy="274320"/>
          </a:xfrm>
          <a:prstGeom prst="rect">
            <a:avLst/>
          </a:prstGeom>
        </p:spPr>
      </p:pic>
      <p:sp>
        <p:nvSpPr>
          <p:cNvPr id="89" name="Text 78"/>
          <p:cNvSpPr txBox="1"/>
          <p:nvPr/>
        </p:nvSpPr>
        <p:spPr>
          <a:xfrm>
            <a:off x="6517386" y="16258032"/>
            <a:ext cx="41399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C3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training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robotic team; few training centres</a:t>
            </a:r>
            <a:endParaRPr lang="en-US" sz="1250" dirty="0"/>
          </a:p>
        </p:txBody>
      </p:sp>
      <p:sp>
        <p:nvSpPr>
          <p:cNvPr id="90" name="Challenge icon bg Access"/>
          <p:cNvSpPr/>
          <p:nvPr/>
        </p:nvSpPr>
        <p:spPr>
          <a:xfrm>
            <a:off x="5785866" y="16971264"/>
            <a:ext cx="548640" cy="548640"/>
          </a:xfrm>
          <a:prstGeom prst="ellipse">
            <a:avLst/>
          </a:prstGeom>
          <a:solidFill>
            <a:srgbClr val="B8892B"/>
          </a:solidFill>
          <a:ln/>
        </p:spPr>
      </p:sp>
      <p:pic>
        <p:nvPicPr>
          <p:cNvPr id="91" name="Image 8" descr="Acces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23026" y="17108424"/>
            <a:ext cx="274320" cy="274320"/>
          </a:xfrm>
          <a:prstGeom prst="rect">
            <a:avLst/>
          </a:prstGeom>
        </p:spPr>
      </p:pic>
      <p:sp>
        <p:nvSpPr>
          <p:cNvPr id="92" name="Text 80"/>
          <p:cNvSpPr txBox="1"/>
          <p:nvPr/>
        </p:nvSpPr>
        <p:spPr>
          <a:xfrm>
            <a:off x="6517386" y="16952976"/>
            <a:ext cx="41399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C3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upfront cost; robots concentrated in advanced economies</a:t>
            </a:r>
            <a:endParaRPr lang="en-US" sz="1250" dirty="0"/>
          </a:p>
        </p:txBody>
      </p:sp>
      <p:sp>
        <p:nvSpPr>
          <p:cNvPr id="93" name="Conclusion band"/>
          <p:cNvSpPr/>
          <p:nvPr/>
        </p:nvSpPr>
        <p:spPr>
          <a:xfrm>
            <a:off x="0" y="17849088"/>
            <a:ext cx="11160252" cy="1950415"/>
          </a:xfrm>
          <a:prstGeom prst="rect">
            <a:avLst/>
          </a:prstGeom>
          <a:solidFill>
            <a:srgbClr val="0C3B43"/>
          </a:solidFill>
          <a:ln/>
        </p:spPr>
      </p:sp>
      <p:sp>
        <p:nvSpPr>
          <p:cNvPr id="94" name="Text 82"/>
          <p:cNvSpPr txBox="1"/>
          <p:nvPr/>
        </p:nvSpPr>
        <p:spPr>
          <a:xfrm>
            <a:off x="502920" y="181691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88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95" name="Conclusion"/>
          <p:cNvSpPr txBox="1"/>
          <p:nvPr/>
        </p:nvSpPr>
        <p:spPr>
          <a:xfrm>
            <a:off x="502920" y="18534888"/>
            <a:ext cx="8462772" cy="1036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RDP offers greater precision, better clinical outcomes and more spleen preservation than open and laparoscopic surgery, and is cost-effective. </a:t>
            </a:r>
            <a:pPr indent="0" marL="0">
              <a:buNone/>
            </a:pPr>
            <a:r>
              <a:rPr lang="en-US" sz="1550" dirty="0">
                <a:solidFill>
                  <a:srgbClr val="C9D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Wider adoption depends on training and equitable access.</a:t>
            </a:r>
            <a:endParaRPr lang="en-US" sz="1550" dirty="0"/>
          </a:p>
        </p:txBody>
      </p:sp>
      <p:sp>
        <p:nvSpPr>
          <p:cNvPr id="96" name="QR tile"/>
          <p:cNvSpPr/>
          <p:nvPr/>
        </p:nvSpPr>
        <p:spPr>
          <a:xfrm>
            <a:off x="9422892" y="18169128"/>
            <a:ext cx="12344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pic>
        <p:nvPicPr>
          <p:cNvPr id="97" name="QR code" descr="QR code linking to the full paper (doi.org/10.1016/j.lers.2025.02.001)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96044" y="18242280"/>
            <a:ext cx="1088136" cy="1088136"/>
          </a:xfrm>
          <a:prstGeom prst="rect">
            <a:avLst/>
          </a:prstGeom>
        </p:spPr>
      </p:pic>
      <p:sp>
        <p:nvSpPr>
          <p:cNvPr id="98" name="Text 85"/>
          <p:cNvSpPr txBox="1"/>
          <p:nvPr/>
        </p:nvSpPr>
        <p:spPr>
          <a:xfrm>
            <a:off x="7731252" y="19476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C9D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paper: Lap Endosc Robot Surg 2025;8:80–83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DP Poster">
  <a:themeElements>
    <a:clrScheme name="RDP Poster">
      <a:dk1>
        <a:srgbClr val="1D2A2E"/>
      </a:dk1>
      <a:lt1>
        <a:srgbClr val="FFFFFF"/>
      </a:lt1>
      <a:dk2>
        <a:srgbClr val="0C3B43"/>
      </a:dk2>
      <a:lt2>
        <a:srgbClr val="E8F2F1"/>
      </a:lt2>
      <a:accent1>
        <a:srgbClr val="13707A"/>
      </a:accent1>
      <a:accent2>
        <a:srgbClr val="D63A47"/>
      </a:accent2>
      <a:accent3>
        <a:srgbClr val="B8892B"/>
      </a:accent3>
      <a:accent4>
        <a:srgbClr val="2E8B57"/>
      </a:accent4>
      <a:accent5>
        <a:srgbClr val="C9781A"/>
      </a:accent5>
      <a:accent6>
        <a:srgbClr val="6B7A7D"/>
      </a:accent6>
      <a:hlink>
        <a:srgbClr val="13707A"/>
      </a:hlink>
      <a:folHlink>
        <a:srgbClr val="0C3B43"/>
      </a:folHlink>
    </a:clrScheme>
    <a:fontScheme name="RDP Post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Clinical review of robotic distal pancreatectomy</dc:title>
  <dc:subject>PptxGenJS Presentation</dc:subject>
  <dc:creator>Naeun Hwang</dc:creator>
  <cp:lastModifiedBy>Naeun Hwang</cp:lastModifiedBy>
  <cp:revision>1</cp:revision>
  <dcterms:created xsi:type="dcterms:W3CDTF">2026-10-13T23:50:26Z</dcterms:created>
  <dcterms:modified xsi:type="dcterms:W3CDTF">2026-10-13T23:50:26Z</dcterms:modified>
</cp:coreProperties>
</file>