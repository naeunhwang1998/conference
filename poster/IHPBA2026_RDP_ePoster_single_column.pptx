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
  </p:handoutMasterIdLst>
  <p:sldIdLst>
    <p:sldId id="266" r:id="rId2"/>
  </p:sldIdLst>
  <p:sldSz cx="11160125" cy="19799300"/>
  <p:notesSz cx="6858000" cy="9144000"/>
  <p:defaultTextStyle>
    <a:defPPr marL="0" marR="0" indent="0" algn="l" defTabSz="387340" rtl="0" fontAlgn="auto" latinLnBrk="1" hangingPunct="0">
      <a:lnSpc>
        <a:spcPct val="100000"/>
      </a:lnSpc>
      <a:spcBef>
        <a:spcPts val="0"/>
      </a:spcBef>
      <a:spcAft>
        <a:spcPts val="0"/>
      </a:spcAft>
      <a:buClrTx/>
      <a:buSzTx/>
      <a:buFontTx/>
      <a:buNone/>
      <a:tabLst/>
      <a:defRPr kumimoji="0" sz="762" b="0" i="0" u="none" strike="noStrike" cap="none" spc="0" normalizeH="0" baseline="0">
        <a:ln>
          <a:noFill/>
        </a:ln>
        <a:solidFill>
          <a:srgbClr val="000000"/>
        </a:solidFill>
        <a:effectLst/>
        <a:uFillTx/>
      </a:defRPr>
    </a:defPPr>
    <a:lvl1pPr marL="0" marR="0" indent="0" algn="l" defTabSz="1785714" rtl="0" fontAlgn="auto" latinLnBrk="0" hangingPunct="0">
      <a:lnSpc>
        <a:spcPct val="100000"/>
      </a:lnSpc>
      <a:spcBef>
        <a:spcPts val="297"/>
      </a:spcBef>
      <a:spcAft>
        <a:spcPts val="0"/>
      </a:spcAft>
      <a:buClrTx/>
      <a:buSzTx/>
      <a:buFontTx/>
      <a:buNone/>
      <a:tabLst/>
      <a:defRPr kumimoji="0" sz="1271" b="0" i="0" u="none" strike="noStrike" cap="none" spc="0" normalizeH="0" baseline="0">
        <a:ln>
          <a:noFill/>
        </a:ln>
        <a:solidFill>
          <a:srgbClr val="000000"/>
        </a:solidFill>
        <a:effectLst/>
        <a:uFillTx/>
        <a:latin typeface="Arial"/>
        <a:ea typeface="Arial"/>
        <a:cs typeface="Arial"/>
        <a:sym typeface="Arial"/>
      </a:defRPr>
    </a:lvl1pPr>
    <a:lvl2pPr marL="684674" marR="0" indent="-2868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2pPr>
    <a:lvl3pPr marL="933298" marR="0" indent="-2868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3pPr>
    <a:lvl4pPr marL="1210610" marR="0" indent="-315562"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4pPr>
    <a:lvl5pPr marL="1398035" marR="0" indent="-229499"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5pPr>
    <a:lvl6pPr marL="4609859" marR="0" indent="-1455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6pPr>
    <a:lvl7pPr marL="5502716" marR="0" indent="-1455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7pPr>
    <a:lvl8pPr marL="6395574" marR="0" indent="-145575"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8pPr>
    <a:lvl9pPr marL="7288431" marR="0" indent="-145575"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D4B3"/>
    <a:srgbClr val="D7B983"/>
    <a:srgbClr val="BB890B"/>
    <a:srgbClr val="F0E5D0"/>
    <a:srgbClr val="B88D3C"/>
    <a:srgbClr val="E52D3C"/>
    <a:srgbClr val="FFFFFF"/>
    <a:srgbClr val="523888"/>
    <a:srgbClr val="213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a:tcStyle>
        <a:tcBdr/>
        <a:fill>
          <a:solidFill>
            <a:srgbClr val="E8ECF4"/>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Arial"/>
          <a:ea typeface="Arial"/>
          <a:cs typeface="Arial"/>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rial"/>
          <a:ea typeface="Arial"/>
          <a:cs typeface="Arial"/>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7" d="100"/>
          <a:sy n="37" d="100"/>
        </p:scale>
        <p:origin x="2796" y="72"/>
      </p:cViewPr>
      <p:guideLst/>
    </p:cSldViewPr>
  </p:slideViewPr>
  <p:notesTextViewPr>
    <p:cViewPr>
      <p:scale>
        <a:sx n="1" d="1"/>
        <a:sy n="1" d="1"/>
      </p:scale>
      <p:origin x="0" y="0"/>
    </p:cViewPr>
  </p:notesTextViewPr>
  <p:notesViewPr>
    <p:cSldViewPr snapToGrid="0">
      <p:cViewPr varScale="1">
        <p:scale>
          <a:sx n="84" d="100"/>
          <a:sy n="84" d="100"/>
        </p:scale>
        <p:origin x="3912" y="96"/>
      </p:cViewPr>
      <p:guideLst/>
    </p:cSldViewPr>
  </p:notesViewPr>
  <p:gridSpacing cx="72008" cy="72008"/>
</p:viewPr>
</file>

<file path=ppt/_rels/presentation.xml.rels><?xml version="1.0" encoding="utf-8"?><Relationships xmlns="http://schemas.openxmlformats.org/package/2006/relationships"><Relationship Id="rId8" Type="http://schemas.openxmlformats.org/officeDocument/2006/relationships/theme" Target="theme/theme1.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handoutMaster" Target="handoutMasters/handoutMaster1.xml"/><Relationship Id="rId4" Type="http://schemas.openxmlformats.org/officeDocument/2006/relationships/notesMaster" Target="notesMasters/notesMaster1.xml"/><Relationship Id="rId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948CC66-08EF-AF46-29BB-D9D29B22E4A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0AD07F9-AF93-2394-DA3C-243AFF761D6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A7A36C2-0AE8-4312-9A79-4F81793A527C}" type="datetimeFigureOut">
              <a:rPr lang="en-US" smtClean="0"/>
              <a:t>7/6/2026</a:t>
            </a:fld>
            <a:endParaRPr lang="en-US"/>
          </a:p>
        </p:txBody>
      </p:sp>
      <p:sp>
        <p:nvSpPr>
          <p:cNvPr id="4" name="Footer Placeholder 3">
            <a:extLst>
              <a:ext uri="{FF2B5EF4-FFF2-40B4-BE49-F238E27FC236}">
                <a16:creationId xmlns:a16="http://schemas.microsoft.com/office/drawing/2014/main" id="{7A9D4BB9-DD7E-80D8-9CFB-7D2D8F2522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E32A9D4-7B26-D82B-AA08-6128DC38474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85A4F59-1F0C-462E-955A-320E77C8344F}" type="slidenum">
              <a:rPr lang="en-US" smtClean="0"/>
              <a:t>‹#›</a:t>
            </a:fld>
            <a:endParaRPr lang="en-US"/>
          </a:p>
        </p:txBody>
      </p:sp>
    </p:spTree>
    <p:extLst>
      <p:ext uri="{BB962C8B-B14F-4D97-AF65-F5344CB8AC3E}">
        <p14:creationId xmlns:p14="http://schemas.microsoft.com/office/powerpoint/2010/main" val="262464018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9" name="Shape 69"/>
          <p:cNvSpPr>
            <a:spLocks noGrp="1" noRot="1" noChangeAspect="1"/>
          </p:cNvSpPr>
          <p:nvPr>
            <p:ph type="sldImg"/>
          </p:nvPr>
        </p:nvSpPr>
        <p:spPr>
          <a:xfrm>
            <a:off x="2462213" y="685800"/>
            <a:ext cx="1933575" cy="3429000"/>
          </a:xfrm>
          <a:prstGeom prst="rect">
            <a:avLst/>
          </a:prstGeom>
        </p:spPr>
        <p:txBody>
          <a:bodyPr/>
          <a:lstStyle/>
          <a:p>
            <a:endParaRPr/>
          </a:p>
        </p:txBody>
      </p:sp>
      <p:sp>
        <p:nvSpPr>
          <p:cNvPr id="70" name="Shape 70"/>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508">
        <a:latin typeface="+mj-lt"/>
        <a:ea typeface="+mj-ea"/>
        <a:cs typeface="+mj-cs"/>
        <a:sym typeface="Calibri"/>
      </a:defRPr>
    </a:lvl1pPr>
    <a:lvl2pPr indent="96835" latinLnBrk="0">
      <a:defRPr sz="508">
        <a:latin typeface="+mj-lt"/>
        <a:ea typeface="+mj-ea"/>
        <a:cs typeface="+mj-cs"/>
        <a:sym typeface="Calibri"/>
      </a:defRPr>
    </a:lvl2pPr>
    <a:lvl3pPr indent="193670" latinLnBrk="0">
      <a:defRPr sz="508">
        <a:latin typeface="+mj-lt"/>
        <a:ea typeface="+mj-ea"/>
        <a:cs typeface="+mj-cs"/>
        <a:sym typeface="Calibri"/>
      </a:defRPr>
    </a:lvl3pPr>
    <a:lvl4pPr indent="290505" latinLnBrk="0">
      <a:defRPr sz="508">
        <a:latin typeface="+mj-lt"/>
        <a:ea typeface="+mj-ea"/>
        <a:cs typeface="+mj-cs"/>
        <a:sym typeface="Calibri"/>
      </a:defRPr>
    </a:lvl4pPr>
    <a:lvl5pPr indent="387340" latinLnBrk="0">
      <a:defRPr sz="508">
        <a:latin typeface="+mj-lt"/>
        <a:ea typeface="+mj-ea"/>
        <a:cs typeface="+mj-cs"/>
        <a:sym typeface="Calibri"/>
      </a:defRPr>
    </a:lvl5pPr>
    <a:lvl6pPr indent="484175" latinLnBrk="0">
      <a:defRPr sz="508">
        <a:latin typeface="+mj-lt"/>
        <a:ea typeface="+mj-ea"/>
        <a:cs typeface="+mj-cs"/>
        <a:sym typeface="Calibri"/>
      </a:defRPr>
    </a:lvl6pPr>
    <a:lvl7pPr indent="581010" latinLnBrk="0">
      <a:defRPr sz="508">
        <a:latin typeface="+mj-lt"/>
        <a:ea typeface="+mj-ea"/>
        <a:cs typeface="+mj-cs"/>
        <a:sym typeface="Calibri"/>
      </a:defRPr>
    </a:lvl7pPr>
    <a:lvl8pPr indent="677845" latinLnBrk="0">
      <a:defRPr sz="508">
        <a:latin typeface="+mj-lt"/>
        <a:ea typeface="+mj-ea"/>
        <a:cs typeface="+mj-cs"/>
        <a:sym typeface="Calibri"/>
      </a:defRPr>
    </a:lvl8pPr>
    <a:lvl9pPr indent="774680" latinLnBrk="0">
      <a:defRPr sz="508">
        <a:latin typeface="+mj-lt"/>
        <a:ea typeface="+mj-ea"/>
        <a:cs typeface="+mj-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Single column">
    <p:bg>
      <p:bgPr>
        <a:solidFill>
          <a:srgbClr val="BB890B"/>
        </a:solidFill>
        <a:effectLst/>
      </p:bgPr>
    </p:bg>
    <p:spTree>
      <p:nvGrpSpPr>
        <p:cNvPr id="1" name=""/>
        <p:cNvGrpSpPr/>
        <p:nvPr/>
      </p:nvGrpSpPr>
      <p:grpSpPr>
        <a:xfrm>
          <a:off x="0" y="0"/>
          <a:ext cx="0" cy="0"/>
          <a:chOff x="0" y="0"/>
          <a:chExt cx="0" cy="0"/>
        </a:xfrm>
      </p:grpSpPr>
      <p:sp>
        <p:nvSpPr>
          <p:cNvPr id="17" name="Text Placeholder 16">
            <a:extLst>
              <a:ext uri="{FF2B5EF4-FFF2-40B4-BE49-F238E27FC236}">
                <a16:creationId xmlns:a16="http://schemas.microsoft.com/office/drawing/2014/main" id="{91112869-3EE5-7578-93B0-B85961A78D92}"/>
              </a:ext>
            </a:extLst>
          </p:cNvPr>
          <p:cNvSpPr>
            <a:spLocks noGrp="1"/>
          </p:cNvSpPr>
          <p:nvPr>
            <p:ph type="body" sz="quarter" idx="25" hasCustomPrompt="1"/>
          </p:nvPr>
        </p:nvSpPr>
        <p:spPr>
          <a:xfrm>
            <a:off x="4123570" y="2911485"/>
            <a:ext cx="6704621" cy="893831"/>
          </a:xfrm>
          <a:prstGeom prst="rect">
            <a:avLst/>
          </a:prstGeom>
        </p:spPr>
        <p:txBody>
          <a:bodyPr>
            <a:normAutofit/>
          </a:bodyPr>
          <a:lstStyle>
            <a:lvl1pPr>
              <a:defRPr sz="1401" b="0"/>
            </a:lvl1pPr>
            <a:lvl5pPr>
              <a:defRPr/>
            </a:lvl5pPr>
          </a:lstStyle>
          <a:p>
            <a:pPr lvl="0"/>
            <a:r>
              <a:rPr lang="en-US" dirty="0"/>
              <a:t>Click to add affiliations</a:t>
            </a:r>
          </a:p>
        </p:txBody>
      </p:sp>
      <p:sp>
        <p:nvSpPr>
          <p:cNvPr id="30" name="Text Placeholder 16">
            <a:extLst>
              <a:ext uri="{FF2B5EF4-FFF2-40B4-BE49-F238E27FC236}">
                <a16:creationId xmlns:a16="http://schemas.microsoft.com/office/drawing/2014/main" id="{0C5E84F8-4F24-4D3E-6CB2-1EA96F65C310}"/>
              </a:ext>
            </a:extLst>
          </p:cNvPr>
          <p:cNvSpPr>
            <a:spLocks noGrp="1"/>
          </p:cNvSpPr>
          <p:nvPr>
            <p:ph type="body" sz="quarter" idx="26" hasCustomPrompt="1"/>
          </p:nvPr>
        </p:nvSpPr>
        <p:spPr>
          <a:xfrm>
            <a:off x="4123570" y="351487"/>
            <a:ext cx="6704621" cy="1303287"/>
          </a:xfrm>
          <a:prstGeom prst="rect">
            <a:avLst/>
          </a:prstGeom>
        </p:spPr>
        <p:txBody>
          <a:bodyPr>
            <a:normAutofit/>
          </a:bodyPr>
          <a:lstStyle>
            <a:lvl1pPr>
              <a:defRPr sz="2027" b="1"/>
            </a:lvl1pPr>
            <a:lvl5pPr>
              <a:defRPr/>
            </a:lvl5pPr>
          </a:lstStyle>
          <a:p>
            <a:pPr lvl="0"/>
            <a:r>
              <a:rPr lang="en-US" dirty="0"/>
              <a:t>CLICK TO ADD TITLE</a:t>
            </a:r>
          </a:p>
        </p:txBody>
      </p:sp>
      <p:sp>
        <p:nvSpPr>
          <p:cNvPr id="31" name="Text Placeholder 16">
            <a:extLst>
              <a:ext uri="{FF2B5EF4-FFF2-40B4-BE49-F238E27FC236}">
                <a16:creationId xmlns:a16="http://schemas.microsoft.com/office/drawing/2014/main" id="{15F5AC59-B717-8B10-FF03-0EAFD1698B50}"/>
              </a:ext>
            </a:extLst>
          </p:cNvPr>
          <p:cNvSpPr>
            <a:spLocks noGrp="1"/>
          </p:cNvSpPr>
          <p:nvPr>
            <p:ph type="body" sz="quarter" idx="27" hasCustomPrompt="1"/>
          </p:nvPr>
        </p:nvSpPr>
        <p:spPr>
          <a:xfrm>
            <a:off x="4123570" y="1701462"/>
            <a:ext cx="6704621" cy="1163336"/>
          </a:xfrm>
          <a:prstGeom prst="rect">
            <a:avLst/>
          </a:prstGeom>
        </p:spPr>
        <p:txBody>
          <a:bodyPr>
            <a:normAutofit/>
          </a:bodyPr>
          <a:lstStyle>
            <a:lvl1pPr>
              <a:defRPr sz="1843" b="0"/>
            </a:lvl1pPr>
            <a:lvl5pPr>
              <a:defRPr/>
            </a:lvl5pPr>
          </a:lstStyle>
          <a:p>
            <a:pPr lvl="0"/>
            <a:r>
              <a:rPr lang="en-US" dirty="0"/>
              <a:t>Click to add authors</a:t>
            </a:r>
          </a:p>
        </p:txBody>
      </p:sp>
      <p:sp>
        <p:nvSpPr>
          <p:cNvPr id="32" name="Text Placeholder 23">
            <a:extLst>
              <a:ext uri="{FF2B5EF4-FFF2-40B4-BE49-F238E27FC236}">
                <a16:creationId xmlns:a16="http://schemas.microsoft.com/office/drawing/2014/main" id="{6550E8E2-EB6B-7C12-DA52-5A0AA0A5E79F}"/>
              </a:ext>
            </a:extLst>
          </p:cNvPr>
          <p:cNvSpPr>
            <a:spLocks noGrp="1"/>
          </p:cNvSpPr>
          <p:nvPr>
            <p:ph type="body" sz="quarter" idx="32" hasCustomPrompt="1"/>
          </p:nvPr>
        </p:nvSpPr>
        <p:spPr>
          <a:xfrm>
            <a:off x="527668" y="4247464"/>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33" name="Text Placeholder 25">
            <a:extLst>
              <a:ext uri="{FF2B5EF4-FFF2-40B4-BE49-F238E27FC236}">
                <a16:creationId xmlns:a16="http://schemas.microsoft.com/office/drawing/2014/main" id="{C96EADA4-D925-523B-F6F5-5EEF38B81A88}"/>
              </a:ext>
            </a:extLst>
          </p:cNvPr>
          <p:cNvSpPr>
            <a:spLocks noGrp="1"/>
          </p:cNvSpPr>
          <p:nvPr>
            <p:ph type="body" sz="quarter" idx="33" hasCustomPrompt="1"/>
          </p:nvPr>
        </p:nvSpPr>
        <p:spPr>
          <a:xfrm>
            <a:off x="527668" y="4646220"/>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44" name="Text Placeholder 23">
            <a:extLst>
              <a:ext uri="{FF2B5EF4-FFF2-40B4-BE49-F238E27FC236}">
                <a16:creationId xmlns:a16="http://schemas.microsoft.com/office/drawing/2014/main" id="{5EEF4B74-CC25-637D-8598-AEFB548D8352}"/>
              </a:ext>
            </a:extLst>
          </p:cNvPr>
          <p:cNvSpPr>
            <a:spLocks noGrp="1"/>
          </p:cNvSpPr>
          <p:nvPr>
            <p:ph type="body" sz="quarter" idx="34" hasCustomPrompt="1"/>
          </p:nvPr>
        </p:nvSpPr>
        <p:spPr>
          <a:xfrm>
            <a:off x="527668" y="7255599"/>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45" name="Text Placeholder 25">
            <a:extLst>
              <a:ext uri="{FF2B5EF4-FFF2-40B4-BE49-F238E27FC236}">
                <a16:creationId xmlns:a16="http://schemas.microsoft.com/office/drawing/2014/main" id="{ED2FB3ED-BDA7-4526-3848-EA0081A601F5}"/>
              </a:ext>
            </a:extLst>
          </p:cNvPr>
          <p:cNvSpPr>
            <a:spLocks noGrp="1"/>
          </p:cNvSpPr>
          <p:nvPr>
            <p:ph type="body" sz="quarter" idx="35" hasCustomPrompt="1"/>
          </p:nvPr>
        </p:nvSpPr>
        <p:spPr>
          <a:xfrm>
            <a:off x="527668" y="7654355"/>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46" name="Text Placeholder 23">
            <a:extLst>
              <a:ext uri="{FF2B5EF4-FFF2-40B4-BE49-F238E27FC236}">
                <a16:creationId xmlns:a16="http://schemas.microsoft.com/office/drawing/2014/main" id="{A3933FD0-89DE-DAE5-9E45-13FE20937D48}"/>
              </a:ext>
            </a:extLst>
          </p:cNvPr>
          <p:cNvSpPr>
            <a:spLocks noGrp="1"/>
          </p:cNvSpPr>
          <p:nvPr>
            <p:ph type="body" sz="quarter" idx="36" hasCustomPrompt="1"/>
          </p:nvPr>
        </p:nvSpPr>
        <p:spPr>
          <a:xfrm>
            <a:off x="527668" y="12687885"/>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47" name="Text Placeholder 25">
            <a:extLst>
              <a:ext uri="{FF2B5EF4-FFF2-40B4-BE49-F238E27FC236}">
                <a16:creationId xmlns:a16="http://schemas.microsoft.com/office/drawing/2014/main" id="{AD3ED400-919E-188E-16A0-16C84AE052AC}"/>
              </a:ext>
            </a:extLst>
          </p:cNvPr>
          <p:cNvSpPr>
            <a:spLocks noGrp="1"/>
          </p:cNvSpPr>
          <p:nvPr>
            <p:ph type="body" sz="quarter" idx="37" hasCustomPrompt="1"/>
          </p:nvPr>
        </p:nvSpPr>
        <p:spPr>
          <a:xfrm>
            <a:off x="527668" y="13086642"/>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48" name="Text Placeholder 23">
            <a:extLst>
              <a:ext uri="{FF2B5EF4-FFF2-40B4-BE49-F238E27FC236}">
                <a16:creationId xmlns:a16="http://schemas.microsoft.com/office/drawing/2014/main" id="{337BF8B9-836A-F378-02EC-095BE9930F24}"/>
              </a:ext>
            </a:extLst>
          </p:cNvPr>
          <p:cNvSpPr>
            <a:spLocks noGrp="1"/>
          </p:cNvSpPr>
          <p:nvPr>
            <p:ph type="body" sz="quarter" idx="38" hasCustomPrompt="1"/>
          </p:nvPr>
        </p:nvSpPr>
        <p:spPr>
          <a:xfrm>
            <a:off x="527668" y="15834366"/>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49" name="Text Placeholder 25">
            <a:extLst>
              <a:ext uri="{FF2B5EF4-FFF2-40B4-BE49-F238E27FC236}">
                <a16:creationId xmlns:a16="http://schemas.microsoft.com/office/drawing/2014/main" id="{0E79AD40-A8ED-7BF2-83E0-059BAF535C05}"/>
              </a:ext>
            </a:extLst>
          </p:cNvPr>
          <p:cNvSpPr>
            <a:spLocks noGrp="1"/>
          </p:cNvSpPr>
          <p:nvPr>
            <p:ph type="body" sz="quarter" idx="39" hasCustomPrompt="1"/>
          </p:nvPr>
        </p:nvSpPr>
        <p:spPr>
          <a:xfrm>
            <a:off x="527668" y="16233122"/>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50" name="Text Placeholder 23">
            <a:extLst>
              <a:ext uri="{FF2B5EF4-FFF2-40B4-BE49-F238E27FC236}">
                <a16:creationId xmlns:a16="http://schemas.microsoft.com/office/drawing/2014/main" id="{B1C46E13-97CE-E024-937C-4A9AD0EC2511}"/>
              </a:ext>
            </a:extLst>
          </p:cNvPr>
          <p:cNvSpPr>
            <a:spLocks noGrp="1"/>
          </p:cNvSpPr>
          <p:nvPr>
            <p:ph type="body" sz="quarter" idx="40" hasCustomPrompt="1"/>
          </p:nvPr>
        </p:nvSpPr>
        <p:spPr>
          <a:xfrm>
            <a:off x="527668" y="17644424"/>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51" name="Text Placeholder 25">
            <a:extLst>
              <a:ext uri="{FF2B5EF4-FFF2-40B4-BE49-F238E27FC236}">
                <a16:creationId xmlns:a16="http://schemas.microsoft.com/office/drawing/2014/main" id="{2E1BF181-F60D-9E75-8218-BF1996BFE797}"/>
              </a:ext>
            </a:extLst>
          </p:cNvPr>
          <p:cNvSpPr>
            <a:spLocks noGrp="1"/>
          </p:cNvSpPr>
          <p:nvPr>
            <p:ph type="body" sz="quarter" idx="41" hasCustomPrompt="1"/>
          </p:nvPr>
        </p:nvSpPr>
        <p:spPr>
          <a:xfrm>
            <a:off x="527668" y="18043180"/>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Two columns">
    <p:spTree>
      <p:nvGrpSpPr>
        <p:cNvPr id="1" name=""/>
        <p:cNvGrpSpPr/>
        <p:nvPr/>
      </p:nvGrpSpPr>
      <p:grpSpPr>
        <a:xfrm>
          <a:off x="0" y="0"/>
          <a:ext cx="0" cy="0"/>
          <a:chOff x="0" y="0"/>
          <a:chExt cx="0" cy="0"/>
        </a:xfrm>
      </p:grpSpPr>
      <p:sp>
        <p:nvSpPr>
          <p:cNvPr id="40" name="Rectángulo redondeado 3"/>
          <p:cNvSpPr/>
          <p:nvPr/>
        </p:nvSpPr>
        <p:spPr>
          <a:xfrm>
            <a:off x="5759252" y="3946787"/>
            <a:ext cx="5102310" cy="15474202"/>
          </a:xfrm>
          <a:prstGeom prst="roundRect">
            <a:avLst>
              <a:gd name="adj" fmla="val 2853"/>
            </a:avLst>
          </a:prstGeom>
          <a:solidFill>
            <a:srgbClr val="FFFFFF"/>
          </a:solidFill>
          <a:ln w="12700">
            <a:miter lim="400000"/>
          </a:ln>
        </p:spPr>
        <p:txBody>
          <a:bodyPr lIns="16852" rIns="16852" anchor="ctr"/>
          <a:lstStyle/>
          <a:p>
            <a:pPr algn="ctr"/>
            <a:endParaRPr sz="468"/>
          </a:p>
        </p:txBody>
      </p:sp>
      <p:sp>
        <p:nvSpPr>
          <p:cNvPr id="41" name="Rectángulo redondeado 3"/>
          <p:cNvSpPr/>
          <p:nvPr/>
        </p:nvSpPr>
        <p:spPr>
          <a:xfrm>
            <a:off x="317287" y="3946787"/>
            <a:ext cx="5102310" cy="15474202"/>
          </a:xfrm>
          <a:prstGeom prst="roundRect">
            <a:avLst>
              <a:gd name="adj" fmla="val 2853"/>
            </a:avLst>
          </a:prstGeom>
          <a:solidFill>
            <a:srgbClr val="FFFFFF"/>
          </a:solidFill>
          <a:ln w="12700">
            <a:miter lim="400000"/>
          </a:ln>
        </p:spPr>
        <p:txBody>
          <a:bodyPr lIns="16852" rIns="16852" anchor="ctr"/>
          <a:lstStyle/>
          <a:p>
            <a:pPr algn="ctr"/>
            <a:endParaRPr sz="468"/>
          </a:p>
        </p:txBody>
      </p:sp>
      <p:sp>
        <p:nvSpPr>
          <p:cNvPr id="58" name="(—THIS SIDEBAR DOES NOT PRINT—)…"/>
          <p:cNvSpPr txBox="1"/>
          <p:nvPr/>
        </p:nvSpPr>
        <p:spPr>
          <a:xfrm>
            <a:off x="-4642236" y="-65504"/>
            <a:ext cx="4515103" cy="14975590"/>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lang="en-US" sz="1511" b="1" dirty="0">
                <a:solidFill>
                  <a:schemeClr val="tx1"/>
                </a:solidFill>
              </a:rPr>
              <a:t>(—THIS SIDEBAR DOES NOT PRINT—)</a:t>
            </a:r>
          </a:p>
          <a:p>
            <a:pPr>
              <a:defRPr sz="4100">
                <a:solidFill>
                  <a:srgbClr val="FFFFFF"/>
                </a:solidFill>
              </a:defRPr>
            </a:pPr>
            <a:endParaRPr lang="en-US" sz="1800" dirty="0"/>
          </a:p>
          <a:p>
            <a:pPr marL="0" marR="0" lvl="0" indent="0" algn="l" defTabSz="1785714" rtl="0" eaLnBrk="1" fontAlgn="auto" latinLnBrk="0" hangingPunct="0">
              <a:lnSpc>
                <a:spcPct val="100000"/>
              </a:lnSpc>
              <a:spcBef>
                <a:spcPts val="297"/>
              </a:spcBef>
              <a:spcAft>
                <a:spcPts val="0"/>
              </a:spcAft>
              <a:buClrTx/>
              <a:buSzTx/>
              <a:buFontTx/>
              <a:buNone/>
              <a:tabLst/>
              <a:defRPr sz="4100">
                <a:solidFill>
                  <a:srgbClr val="FFFFFF"/>
                </a:solidFill>
              </a:defRPr>
            </a:pPr>
            <a:r>
              <a:rPr lang="en-US" sz="1800" b="1" dirty="0">
                <a:solidFill>
                  <a:schemeClr val="tx1"/>
                </a:solidFill>
              </a:rPr>
              <a:t>QUICK START</a:t>
            </a:r>
          </a:p>
          <a:p>
            <a:pPr>
              <a:defRPr sz="4100">
                <a:solidFill>
                  <a:srgbClr val="FFFFFF"/>
                </a:solidFill>
              </a:defRPr>
            </a:pPr>
            <a:endParaRPr lang="en-US" sz="1800" dirty="0">
              <a:solidFill>
                <a:schemeClr val="tx1"/>
              </a:solidFill>
            </a:endParaRPr>
          </a:p>
          <a:p>
            <a:pPr>
              <a:defRPr sz="4100">
                <a:solidFill>
                  <a:srgbClr val="FFFFFF"/>
                </a:solidFill>
              </a:defRPr>
            </a:pPr>
            <a:br>
              <a:rPr lang="en-US" sz="1800" dirty="0">
                <a:solidFill>
                  <a:schemeClr val="tx1"/>
                </a:solidFill>
              </a:rPr>
            </a:br>
            <a:r>
              <a:rPr lang="en-US" sz="1800" b="1" u="sng" dirty="0">
                <a:solidFill>
                  <a:schemeClr val="tx1"/>
                </a:solidFill>
              </a:rPr>
              <a:t>DESIGN GUIDE</a:t>
            </a:r>
          </a:p>
          <a:p>
            <a:pPr>
              <a:defRPr sz="4100">
                <a:solidFill>
                  <a:srgbClr val="FFFFFF"/>
                </a:solidFill>
              </a:defRPr>
            </a:pPr>
            <a:r>
              <a:rPr lang="en-US" sz="1800" dirty="0">
                <a:solidFill>
                  <a:schemeClr val="tx1"/>
                </a:solidFill>
              </a:rPr>
              <a:t>This PowerPoint template produces an </a:t>
            </a:r>
            <a:r>
              <a:rPr lang="en-US" sz="1800" dirty="0" err="1">
                <a:solidFill>
                  <a:schemeClr val="tx1"/>
                </a:solidFill>
              </a:rPr>
              <a:t>ePoster</a:t>
            </a:r>
            <a:r>
              <a:rPr lang="en-US" sz="1800" dirty="0">
                <a:solidFill>
                  <a:schemeClr val="tx1"/>
                </a:solidFill>
              </a:rPr>
              <a:t>  (31.41cm x 55.85cm). You can use it to create your poster that will be displayed in the IHPBA 2026 </a:t>
            </a:r>
            <a:r>
              <a:rPr lang="en-US" sz="1800" dirty="0" err="1">
                <a:solidFill>
                  <a:schemeClr val="tx1"/>
                </a:solidFill>
              </a:rPr>
              <a:t>ePoster</a:t>
            </a:r>
            <a:r>
              <a:rPr lang="en-US" sz="1800" dirty="0">
                <a:solidFill>
                  <a:schemeClr val="tx1"/>
                </a:solidFill>
              </a:rPr>
              <a:t> Gallery. This template will save valuable time placing titles, subtitles, text, and graphics, and it will allow for consistency throughout the </a:t>
            </a:r>
            <a:r>
              <a:rPr lang="en-US" sz="1800" dirty="0" err="1">
                <a:solidFill>
                  <a:schemeClr val="tx1"/>
                </a:solidFill>
              </a:rPr>
              <a:t>ePoster</a:t>
            </a:r>
            <a:r>
              <a:rPr lang="en-US" sz="1800" dirty="0">
                <a:solidFill>
                  <a:schemeClr val="tx1"/>
                </a:solidFill>
              </a:rPr>
              <a:t> gallery.</a:t>
            </a:r>
          </a:p>
          <a:p>
            <a:pPr>
              <a:defRPr sz="4100">
                <a:solidFill>
                  <a:srgbClr val="FFFFFF"/>
                </a:solidFill>
              </a:defRPr>
            </a:pPr>
            <a:endParaRPr lang="en-US" sz="1800" dirty="0">
              <a:solidFill>
                <a:schemeClr val="tx1"/>
              </a:solidFill>
            </a:endParaRPr>
          </a:p>
          <a:p>
            <a:pPr>
              <a:defRPr sz="4100">
                <a:solidFill>
                  <a:srgbClr val="FFFFFF"/>
                </a:solidFill>
              </a:defRPr>
            </a:pPr>
            <a:r>
              <a:rPr lang="en-US" sz="1800" b="1" u="sng" dirty="0">
                <a:solidFill>
                  <a:schemeClr val="tx1"/>
                </a:solidFill>
              </a:rPr>
              <a:t>SELECT DESIRED LAYOUT</a:t>
            </a:r>
          </a:p>
          <a:p>
            <a:pPr>
              <a:defRPr sz="4100">
                <a:solidFill>
                  <a:srgbClr val="FFFFFF"/>
                </a:solidFill>
              </a:defRPr>
            </a:pPr>
            <a:r>
              <a:rPr lang="en-US" sz="1800" dirty="0">
                <a:solidFill>
                  <a:schemeClr val="tx1"/>
                </a:solidFill>
              </a:rPr>
              <a:t>When designing your own poster, you will be able to choose between the two proposed  layouts - the single or the double column - according to the information you will have to present. Simply click on the slide&gt;layout: office theme, single column or double column</a:t>
            </a:r>
            <a:br>
              <a:rPr lang="en-US" sz="1800" dirty="0">
                <a:solidFill>
                  <a:schemeClr val="tx1"/>
                </a:solidFill>
              </a:rPr>
            </a:br>
            <a:br>
              <a:rPr lang="en-US" sz="1800" dirty="0">
                <a:solidFill>
                  <a:schemeClr val="tx1"/>
                </a:solidFill>
              </a:rPr>
            </a:br>
            <a:r>
              <a:rPr lang="en-US" sz="1800" dirty="0">
                <a:solidFill>
                  <a:schemeClr val="tx1"/>
                </a:solidFill>
              </a:rPr>
              <a:t>Your </a:t>
            </a:r>
            <a:r>
              <a:rPr lang="en-US" sz="1800" dirty="0" err="1">
                <a:solidFill>
                  <a:schemeClr val="tx1"/>
                </a:solidFill>
              </a:rPr>
              <a:t>ePoster</a:t>
            </a:r>
            <a:r>
              <a:rPr lang="en-US" sz="1800" dirty="0">
                <a:solidFill>
                  <a:schemeClr val="tx1"/>
                </a:solidFill>
              </a:rPr>
              <a:t> must be in portrait orientation with a MAXIMUM of ONE page only.</a:t>
            </a:r>
            <a:br>
              <a:rPr lang="en-US" sz="1800" dirty="0">
                <a:solidFill>
                  <a:schemeClr val="tx1"/>
                </a:solidFill>
              </a:rPr>
            </a:br>
            <a:br>
              <a:rPr lang="en-US" sz="1800" dirty="0">
                <a:solidFill>
                  <a:schemeClr val="tx1"/>
                </a:solidFill>
              </a:rPr>
            </a:br>
            <a:r>
              <a:rPr lang="en-US" sz="1800" dirty="0">
                <a:solidFill>
                  <a:schemeClr val="tx1"/>
                </a:solidFill>
              </a:rPr>
              <a:t>Delete the slide layout you do not require.</a:t>
            </a: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TITLE, AUTHORS, AND AFFILIATIONS</a:t>
            </a:r>
          </a:p>
          <a:p>
            <a:pPr>
              <a:defRPr sz="4100">
                <a:solidFill>
                  <a:srgbClr val="FFFFFF"/>
                </a:solidFill>
              </a:defRPr>
            </a:pPr>
            <a:r>
              <a:rPr lang="en-US" sz="1800" dirty="0">
                <a:solidFill>
                  <a:schemeClr val="tx1"/>
                </a:solidFill>
              </a:rPr>
              <a:t>Start designing your poster by adding the title of your work, the names of the authors, and the affiliated institutions. This information should be the exact same as what you submitted - no changes are permitted.</a:t>
            </a: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FONTS</a:t>
            </a:r>
          </a:p>
          <a:p>
            <a:pPr>
              <a:defRPr sz="4100">
                <a:solidFill>
                  <a:srgbClr val="FFFFFF"/>
                </a:solidFill>
              </a:defRPr>
            </a:pPr>
            <a:r>
              <a:rPr lang="en-US" sz="1800" dirty="0">
                <a:solidFill>
                  <a:schemeClr val="tx1"/>
                </a:solidFill>
              </a:rPr>
              <a:t>Fonts permitted are Arial, Helvetica, Calibri, Verdana, Symbol or Times New Roman.  Other fonts may lead to an error message.</a:t>
            </a:r>
            <a:br>
              <a:rPr lang="en-US" sz="1800" dirty="0">
                <a:solidFill>
                  <a:schemeClr val="tx1"/>
                </a:solidFill>
              </a:rPr>
            </a:br>
            <a:endParaRPr lang="en-US" sz="1800" dirty="0">
              <a:solidFill>
                <a:schemeClr val="tx1"/>
              </a:solidFill>
            </a:endParaRPr>
          </a:p>
          <a:p>
            <a:pPr>
              <a:defRPr sz="4100">
                <a:solidFill>
                  <a:srgbClr val="FFFFFF"/>
                </a:solidFill>
              </a:defRPr>
            </a:pPr>
            <a:r>
              <a:rPr lang="en-US" sz="1800" b="1" u="sng" dirty="0">
                <a:solidFill>
                  <a:schemeClr val="tx1"/>
                </a:solidFill>
              </a:rPr>
              <a:t>FONT and TEXT SIZE </a:t>
            </a:r>
          </a:p>
          <a:p>
            <a:pPr>
              <a:defRPr sz="4100">
                <a:solidFill>
                  <a:srgbClr val="FFFFFF"/>
                </a:solidFill>
              </a:defRPr>
            </a:pPr>
            <a:r>
              <a:rPr lang="en-US" sz="1800" dirty="0">
                <a:solidFill>
                  <a:schemeClr val="tx1"/>
                </a:solidFill>
              </a:rPr>
              <a:t>Adjust the size of your text based on how much content you have to present. The default template text offers a good starting point but can be adjusted to meet your own requirements.</a:t>
            </a:r>
          </a:p>
          <a:p>
            <a:pPr>
              <a:defRPr sz="4100">
                <a:solidFill>
                  <a:srgbClr val="FFFFFF"/>
                </a:solidFill>
              </a:defRPr>
            </a:pPr>
            <a:endParaRPr lang="en-US" sz="1511" dirty="0"/>
          </a:p>
        </p:txBody>
      </p:sp>
      <p:sp>
        <p:nvSpPr>
          <p:cNvPr id="61" name="(—THIS SIDEBAR DOES NOT PRINT—)…"/>
          <p:cNvSpPr txBox="1"/>
          <p:nvPr/>
        </p:nvSpPr>
        <p:spPr>
          <a:xfrm>
            <a:off x="11287258" y="-28245"/>
            <a:ext cx="4528230" cy="14903006"/>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sz="1800" b="1" dirty="0">
                <a:solidFill>
                  <a:schemeClr val="tx1"/>
                </a:solidFill>
              </a:rPr>
              <a:t>(—THIS SIDEBAR DOES NOT PRINT—)</a:t>
            </a:r>
          </a:p>
          <a:p>
            <a:pPr>
              <a:defRPr sz="4100">
                <a:solidFill>
                  <a:srgbClr val="FFFFFF"/>
                </a:solidFill>
              </a:defRPr>
            </a:pPr>
            <a:endParaRPr sz="1800" dirty="0">
              <a:solidFill>
                <a:schemeClr val="tx1"/>
              </a:solidFill>
            </a:endParaRPr>
          </a:p>
          <a:p>
            <a:pPr>
              <a:defRPr sz="4100">
                <a:solidFill>
                  <a:srgbClr val="FFFFFF"/>
                </a:solidFill>
              </a:defRPr>
            </a:pPr>
            <a:r>
              <a:rPr lang="en-US" sz="1800" b="1" u="sng" dirty="0">
                <a:solidFill>
                  <a:schemeClr val="tx1"/>
                </a:solidFill>
              </a:rPr>
              <a:t>QUICK START (cont.)</a:t>
            </a:r>
          </a:p>
          <a:p>
            <a:pPr>
              <a:defRPr sz="4100">
                <a:solidFill>
                  <a:srgbClr val="FFFFFF"/>
                </a:solidFill>
              </a:defRPr>
            </a:pPr>
            <a:endParaRPr lang="en-US" sz="1800" dirty="0">
              <a:solidFill>
                <a:schemeClr val="tx1"/>
              </a:solidFill>
            </a:endParaRP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PHOTOGRAPHS / GRAPHICS</a:t>
            </a:r>
          </a:p>
          <a:p>
            <a:pPr>
              <a:defRPr sz="4100">
                <a:solidFill>
                  <a:srgbClr val="FFFFFF"/>
                </a:solidFill>
              </a:defRPr>
            </a:pPr>
            <a:r>
              <a:rPr lang="en-US" sz="1800" dirty="0">
                <a:solidFill>
                  <a:schemeClr val="tx1"/>
                </a:solidFill>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disproportionally. The image and/or graphic captions should be centered.</a:t>
            </a: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ADDING LOGOS</a:t>
            </a:r>
          </a:p>
          <a:p>
            <a:pPr>
              <a:defRPr sz="4100">
                <a:solidFill>
                  <a:srgbClr val="FFFFFF"/>
                </a:solidFill>
              </a:defRPr>
            </a:pPr>
            <a:r>
              <a:rPr lang="en-US" sz="1800" dirty="0">
                <a:solidFill>
                  <a:schemeClr val="tx1"/>
                </a:solidFill>
              </a:rPr>
              <a:t>Do not remove the IHPBA 2026 logo. You can insert your institutions logo where applicable in the </a:t>
            </a:r>
            <a:r>
              <a:rPr lang="en-US" sz="1800" dirty="0" err="1">
                <a:solidFill>
                  <a:schemeClr val="tx1"/>
                </a:solidFill>
              </a:rPr>
              <a:t>ePoster</a:t>
            </a:r>
            <a:r>
              <a:rPr lang="en-US" sz="1800" dirty="0">
                <a:solidFill>
                  <a:schemeClr val="tx1"/>
                </a:solidFill>
              </a:rPr>
              <a:t> as long as it does not cover up the IHPBA 2026 logo. Logos taken from web sites are likely to be low quality.  Zoom in at 100% to see what the logo will look like on the final </a:t>
            </a:r>
            <a:r>
              <a:rPr lang="en-US" sz="1800" dirty="0" err="1">
                <a:solidFill>
                  <a:schemeClr val="tx1"/>
                </a:solidFill>
              </a:rPr>
              <a:t>ePoster</a:t>
            </a:r>
            <a:r>
              <a:rPr lang="en-US" sz="1800" dirty="0">
                <a:solidFill>
                  <a:schemeClr val="tx1"/>
                </a:solidFill>
              </a:rPr>
              <a:t> and make any necessary adjustments. Use the white version of the logo if added on top of the purple space.</a:t>
            </a:r>
          </a:p>
          <a:p>
            <a:pPr>
              <a:defRPr sz="4100">
                <a:solidFill>
                  <a:srgbClr val="FFFFFF"/>
                </a:solidFill>
              </a:defRPr>
            </a:pPr>
            <a:endParaRPr lang="en-US" sz="1800" dirty="0">
              <a:solidFill>
                <a:schemeClr val="tx1"/>
              </a:solidFill>
            </a:endParaRPr>
          </a:p>
          <a:p>
            <a:pPr>
              <a:defRPr sz="4100">
                <a:solidFill>
                  <a:srgbClr val="FFFFFF"/>
                </a:solidFill>
              </a:defRPr>
            </a:pPr>
            <a:r>
              <a:rPr lang="en-US" sz="1800" b="1" u="sng" dirty="0">
                <a:solidFill>
                  <a:schemeClr val="tx1"/>
                </a:solidFill>
              </a:rPr>
              <a:t>IMAGE QUALITY CHECK</a:t>
            </a:r>
          </a:p>
          <a:p>
            <a:pPr>
              <a:defRPr sz="4100">
                <a:solidFill>
                  <a:srgbClr val="FFFFFF"/>
                </a:solidFill>
              </a:defRPr>
            </a:pPr>
            <a:r>
              <a:rPr lang="en-US" sz="1800" dirty="0">
                <a:solidFill>
                  <a:schemeClr val="tx1"/>
                </a:solidFill>
              </a:rPr>
              <a:t>Zoom in and look at your images at 100% magnification. If they look good, they will upload well. </a:t>
            </a:r>
          </a:p>
          <a:p>
            <a:pPr>
              <a:defRPr sz="4100">
                <a:solidFill>
                  <a:srgbClr val="FFFFFF"/>
                </a:solidFill>
              </a:defRPr>
            </a:pPr>
            <a:endParaRPr lang="en-US" sz="1800" dirty="0">
              <a:solidFill>
                <a:schemeClr val="tx1"/>
              </a:solidFill>
            </a:endParaRPr>
          </a:p>
          <a:p>
            <a:pPr>
              <a:defRPr sz="4100">
                <a:solidFill>
                  <a:srgbClr val="FFFFFF"/>
                </a:solidFill>
              </a:defRPr>
            </a:pPr>
            <a:r>
              <a:rPr lang="en-US" sz="1800" b="1" u="sng" dirty="0">
                <a:solidFill>
                  <a:schemeClr val="tx1"/>
                </a:solidFill>
              </a:rPr>
              <a:t>SAVE YOUR WORK</a:t>
            </a:r>
          </a:p>
          <a:p>
            <a:pPr>
              <a:defRPr sz="4100">
                <a:solidFill>
                  <a:srgbClr val="FFFFFF"/>
                </a:solidFill>
              </a:defRPr>
            </a:pPr>
            <a:r>
              <a:rPr lang="en-US" sz="1800" dirty="0">
                <a:solidFill>
                  <a:schemeClr val="tx1"/>
                </a:solidFill>
              </a:rPr>
              <a:t>To save your poster as a PDF document (.pdf).</a:t>
            </a:r>
          </a:p>
          <a:p>
            <a:pPr>
              <a:defRPr sz="4100">
                <a:solidFill>
                  <a:srgbClr val="FFFFFF"/>
                </a:solidFill>
              </a:defRPr>
            </a:pPr>
            <a:r>
              <a:rPr lang="en-US" sz="1800" dirty="0">
                <a:solidFill>
                  <a:schemeClr val="tx1"/>
                </a:solidFill>
              </a:rPr>
              <a:t>File &gt; save as &gt; PDF.</a:t>
            </a:r>
          </a:p>
          <a:p>
            <a:pPr>
              <a:defRPr sz="4100">
                <a:solidFill>
                  <a:srgbClr val="FFFFFF"/>
                </a:solidFill>
              </a:defRPr>
            </a:pPr>
            <a:r>
              <a:rPr lang="en-US" sz="1800" dirty="0">
                <a:solidFill>
                  <a:schemeClr val="tx1"/>
                </a:solidFill>
              </a:rPr>
              <a:t>You may also save and upload as a PowerPoint slide (PPT, PPTX). </a:t>
            </a:r>
            <a:br>
              <a:rPr lang="en-US" sz="1800" dirty="0">
                <a:solidFill>
                  <a:schemeClr val="tx1"/>
                </a:solidFill>
              </a:rPr>
            </a:br>
            <a:endParaRPr lang="en-US" sz="1800" dirty="0">
              <a:solidFill>
                <a:schemeClr val="tx1"/>
              </a:solidFill>
            </a:endParaRPr>
          </a:p>
          <a:p>
            <a:pPr>
              <a:defRPr sz="4100">
                <a:solidFill>
                  <a:srgbClr val="FFFFFF"/>
                </a:solidFill>
              </a:defRPr>
            </a:pPr>
            <a:r>
              <a:rPr lang="en-US" sz="1800" b="1" dirty="0">
                <a:solidFill>
                  <a:schemeClr val="tx1"/>
                </a:solidFill>
              </a:rPr>
              <a:t>UPLOAD YOUR EPOSTER</a:t>
            </a:r>
          </a:p>
          <a:p>
            <a:pPr>
              <a:defRPr sz="4100">
                <a:solidFill>
                  <a:srgbClr val="FFFFFF"/>
                </a:solidFill>
              </a:defRPr>
            </a:pPr>
            <a:r>
              <a:rPr lang="en-US" sz="1800" dirty="0">
                <a:solidFill>
                  <a:schemeClr val="tx1"/>
                </a:solidFill>
              </a:rPr>
              <a:t>The </a:t>
            </a:r>
            <a:r>
              <a:rPr lang="en-US" sz="1800" dirty="0" err="1">
                <a:solidFill>
                  <a:schemeClr val="tx1"/>
                </a:solidFill>
              </a:rPr>
              <a:t>ePoster</a:t>
            </a:r>
            <a:r>
              <a:rPr lang="en-US" sz="1800" dirty="0">
                <a:solidFill>
                  <a:schemeClr val="tx1"/>
                </a:solidFill>
              </a:rPr>
              <a:t> upload system opens </a:t>
            </a:r>
            <a:r>
              <a:rPr lang="en-US" sz="1800" b="1" dirty="0">
                <a:solidFill>
                  <a:srgbClr val="FF0000"/>
                </a:solidFill>
              </a:rPr>
              <a:t>18 August 2026</a:t>
            </a:r>
            <a:r>
              <a:rPr lang="en-US" sz="1800" dirty="0">
                <a:solidFill>
                  <a:schemeClr val="tx1"/>
                </a:solidFill>
              </a:rPr>
              <a:t>.  Prior to that date, the presenting author will receive a </a:t>
            </a:r>
            <a:r>
              <a:rPr lang="en-US" sz="1800" dirty="0" err="1">
                <a:solidFill>
                  <a:schemeClr val="tx1"/>
                </a:solidFill>
              </a:rPr>
              <a:t>personalised</a:t>
            </a:r>
            <a:r>
              <a:rPr lang="en-US" sz="1800" dirty="0">
                <a:solidFill>
                  <a:schemeClr val="tx1"/>
                </a:solidFill>
              </a:rPr>
              <a:t> link to upload their </a:t>
            </a:r>
            <a:r>
              <a:rPr lang="en-US" sz="1800" dirty="0" err="1">
                <a:solidFill>
                  <a:schemeClr val="tx1"/>
                </a:solidFill>
              </a:rPr>
              <a:t>ePoster</a:t>
            </a:r>
            <a:br>
              <a:rPr lang="en-US" sz="1800" dirty="0">
                <a:solidFill>
                  <a:schemeClr val="tx1"/>
                </a:solidFill>
              </a:rPr>
            </a:br>
            <a:br>
              <a:rPr lang="en-US" sz="1800" dirty="0">
                <a:solidFill>
                  <a:schemeClr val="tx1"/>
                </a:solidFill>
              </a:rPr>
            </a:br>
            <a:br>
              <a:rPr lang="en-US" sz="1800" dirty="0">
                <a:solidFill>
                  <a:schemeClr val="tx1"/>
                </a:solidFill>
              </a:rPr>
            </a:br>
            <a:r>
              <a:rPr lang="en-US" sz="1800" dirty="0">
                <a:solidFill>
                  <a:schemeClr val="tx1"/>
                </a:solidFill>
              </a:rPr>
              <a:t>THANK YOU!</a:t>
            </a:r>
          </a:p>
        </p:txBody>
      </p:sp>
      <p:sp>
        <p:nvSpPr>
          <p:cNvPr id="20" name="Text Placeholder 16">
            <a:extLst>
              <a:ext uri="{FF2B5EF4-FFF2-40B4-BE49-F238E27FC236}">
                <a16:creationId xmlns:a16="http://schemas.microsoft.com/office/drawing/2014/main" id="{BB18007D-A057-6DE5-F43C-09F6E3887E27}"/>
              </a:ext>
            </a:extLst>
          </p:cNvPr>
          <p:cNvSpPr>
            <a:spLocks noGrp="1"/>
          </p:cNvSpPr>
          <p:nvPr>
            <p:ph type="body" sz="quarter" idx="25" hasCustomPrompt="1"/>
          </p:nvPr>
        </p:nvSpPr>
        <p:spPr>
          <a:xfrm>
            <a:off x="4156941" y="2911063"/>
            <a:ext cx="6704621" cy="893831"/>
          </a:xfrm>
          <a:prstGeom prst="rect">
            <a:avLst/>
          </a:prstGeom>
        </p:spPr>
        <p:txBody>
          <a:bodyPr>
            <a:normAutofit/>
          </a:bodyPr>
          <a:lstStyle>
            <a:lvl1pPr>
              <a:defRPr sz="1401" b="0"/>
            </a:lvl1pPr>
            <a:lvl5pPr>
              <a:defRPr/>
            </a:lvl5pPr>
          </a:lstStyle>
          <a:p>
            <a:pPr lvl="0"/>
            <a:r>
              <a:rPr lang="en-US" dirty="0"/>
              <a:t>Click to add affiliations</a:t>
            </a:r>
          </a:p>
        </p:txBody>
      </p:sp>
      <p:sp>
        <p:nvSpPr>
          <p:cNvPr id="21" name="Text Placeholder 16">
            <a:extLst>
              <a:ext uri="{FF2B5EF4-FFF2-40B4-BE49-F238E27FC236}">
                <a16:creationId xmlns:a16="http://schemas.microsoft.com/office/drawing/2014/main" id="{C0BE8827-229B-922F-194B-57C5F266153D}"/>
              </a:ext>
            </a:extLst>
          </p:cNvPr>
          <p:cNvSpPr>
            <a:spLocks noGrp="1"/>
          </p:cNvSpPr>
          <p:nvPr>
            <p:ph type="body" sz="quarter" idx="26" hasCustomPrompt="1"/>
          </p:nvPr>
        </p:nvSpPr>
        <p:spPr>
          <a:xfrm>
            <a:off x="4156941" y="351065"/>
            <a:ext cx="6704621" cy="1303287"/>
          </a:xfrm>
          <a:prstGeom prst="rect">
            <a:avLst/>
          </a:prstGeom>
        </p:spPr>
        <p:txBody>
          <a:bodyPr>
            <a:normAutofit/>
          </a:bodyPr>
          <a:lstStyle>
            <a:lvl1pPr>
              <a:defRPr sz="2027" b="1"/>
            </a:lvl1pPr>
            <a:lvl5pPr>
              <a:defRPr/>
            </a:lvl5pPr>
          </a:lstStyle>
          <a:p>
            <a:pPr lvl="0"/>
            <a:r>
              <a:rPr lang="en-US" dirty="0"/>
              <a:t>CLICK TO ADD TITLE</a:t>
            </a:r>
          </a:p>
        </p:txBody>
      </p:sp>
      <p:sp>
        <p:nvSpPr>
          <p:cNvPr id="22" name="Text Placeholder 16">
            <a:extLst>
              <a:ext uri="{FF2B5EF4-FFF2-40B4-BE49-F238E27FC236}">
                <a16:creationId xmlns:a16="http://schemas.microsoft.com/office/drawing/2014/main" id="{4AD42D2B-9E97-B1D3-E9CB-422211A8AC93}"/>
              </a:ext>
            </a:extLst>
          </p:cNvPr>
          <p:cNvSpPr>
            <a:spLocks noGrp="1"/>
          </p:cNvSpPr>
          <p:nvPr>
            <p:ph type="body" sz="quarter" idx="27" hasCustomPrompt="1"/>
          </p:nvPr>
        </p:nvSpPr>
        <p:spPr>
          <a:xfrm>
            <a:off x="4156941" y="1701039"/>
            <a:ext cx="6704621" cy="1163336"/>
          </a:xfrm>
          <a:prstGeom prst="rect">
            <a:avLst/>
          </a:prstGeom>
        </p:spPr>
        <p:txBody>
          <a:bodyPr>
            <a:normAutofit/>
          </a:bodyPr>
          <a:lstStyle>
            <a:lvl1pPr>
              <a:defRPr sz="1843" b="0"/>
            </a:lvl1pPr>
            <a:lvl5pPr>
              <a:defRPr/>
            </a:lvl5pPr>
          </a:lstStyle>
          <a:p>
            <a:pPr lvl="0"/>
            <a:r>
              <a:rPr lang="en-US" dirty="0"/>
              <a:t>Click to add authors</a:t>
            </a:r>
          </a:p>
        </p:txBody>
      </p:sp>
      <p:sp>
        <p:nvSpPr>
          <p:cNvPr id="24" name="Text Placeholder 23">
            <a:extLst>
              <a:ext uri="{FF2B5EF4-FFF2-40B4-BE49-F238E27FC236}">
                <a16:creationId xmlns:a16="http://schemas.microsoft.com/office/drawing/2014/main" id="{AF74511C-B765-4529-DBAD-E895D95BCF75}"/>
              </a:ext>
            </a:extLst>
          </p:cNvPr>
          <p:cNvSpPr>
            <a:spLocks noGrp="1"/>
          </p:cNvSpPr>
          <p:nvPr>
            <p:ph type="body" sz="quarter" idx="28" hasCustomPrompt="1"/>
          </p:nvPr>
        </p:nvSpPr>
        <p:spPr>
          <a:xfrm>
            <a:off x="532425" y="4276868"/>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26" name="Text Placeholder 25">
            <a:extLst>
              <a:ext uri="{FF2B5EF4-FFF2-40B4-BE49-F238E27FC236}">
                <a16:creationId xmlns:a16="http://schemas.microsoft.com/office/drawing/2014/main" id="{F3E72FDB-CB5A-86C7-3D7E-007664D82B20}"/>
              </a:ext>
            </a:extLst>
          </p:cNvPr>
          <p:cNvSpPr>
            <a:spLocks noGrp="1"/>
          </p:cNvSpPr>
          <p:nvPr>
            <p:ph type="body" sz="quarter" idx="29" hasCustomPrompt="1"/>
          </p:nvPr>
        </p:nvSpPr>
        <p:spPr>
          <a:xfrm>
            <a:off x="532425" y="4675625"/>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27" name="Text Placeholder 23">
            <a:extLst>
              <a:ext uri="{FF2B5EF4-FFF2-40B4-BE49-F238E27FC236}">
                <a16:creationId xmlns:a16="http://schemas.microsoft.com/office/drawing/2014/main" id="{C5D65881-9A10-C69B-1D88-F970FCE6E70B}"/>
              </a:ext>
            </a:extLst>
          </p:cNvPr>
          <p:cNvSpPr>
            <a:spLocks noGrp="1"/>
          </p:cNvSpPr>
          <p:nvPr>
            <p:ph type="body" sz="quarter" idx="30" hasCustomPrompt="1"/>
          </p:nvPr>
        </p:nvSpPr>
        <p:spPr>
          <a:xfrm>
            <a:off x="5948780" y="4250782"/>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28" name="Text Placeholder 25">
            <a:extLst>
              <a:ext uri="{FF2B5EF4-FFF2-40B4-BE49-F238E27FC236}">
                <a16:creationId xmlns:a16="http://schemas.microsoft.com/office/drawing/2014/main" id="{C3B59BC9-2C63-3779-AF69-56925A2A3817}"/>
              </a:ext>
            </a:extLst>
          </p:cNvPr>
          <p:cNvSpPr>
            <a:spLocks noGrp="1"/>
          </p:cNvSpPr>
          <p:nvPr>
            <p:ph type="body" sz="quarter" idx="31" hasCustomPrompt="1"/>
          </p:nvPr>
        </p:nvSpPr>
        <p:spPr>
          <a:xfrm>
            <a:off x="5948780" y="4649538"/>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1" name="Text Placeholder 23">
            <a:extLst>
              <a:ext uri="{FF2B5EF4-FFF2-40B4-BE49-F238E27FC236}">
                <a16:creationId xmlns:a16="http://schemas.microsoft.com/office/drawing/2014/main" id="{9DDB7B2B-0FF4-23D4-44DA-13F624F2F355}"/>
              </a:ext>
            </a:extLst>
          </p:cNvPr>
          <p:cNvSpPr>
            <a:spLocks noGrp="1"/>
          </p:cNvSpPr>
          <p:nvPr>
            <p:ph type="body" sz="quarter" idx="32" hasCustomPrompt="1"/>
          </p:nvPr>
        </p:nvSpPr>
        <p:spPr>
          <a:xfrm>
            <a:off x="532425" y="9484858"/>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32" name="Text Placeholder 25">
            <a:extLst>
              <a:ext uri="{FF2B5EF4-FFF2-40B4-BE49-F238E27FC236}">
                <a16:creationId xmlns:a16="http://schemas.microsoft.com/office/drawing/2014/main" id="{85B0F404-8126-4EF8-DE40-42E71E76FD3B}"/>
              </a:ext>
            </a:extLst>
          </p:cNvPr>
          <p:cNvSpPr>
            <a:spLocks noGrp="1"/>
          </p:cNvSpPr>
          <p:nvPr>
            <p:ph type="body" sz="quarter" idx="33" hasCustomPrompt="1"/>
          </p:nvPr>
        </p:nvSpPr>
        <p:spPr>
          <a:xfrm>
            <a:off x="532425" y="9883615"/>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3" name="Text Placeholder 23">
            <a:extLst>
              <a:ext uri="{FF2B5EF4-FFF2-40B4-BE49-F238E27FC236}">
                <a16:creationId xmlns:a16="http://schemas.microsoft.com/office/drawing/2014/main" id="{36E6E9AB-4D86-401B-E0F4-7E97A6333CDE}"/>
              </a:ext>
            </a:extLst>
          </p:cNvPr>
          <p:cNvSpPr>
            <a:spLocks noGrp="1"/>
          </p:cNvSpPr>
          <p:nvPr>
            <p:ph type="body" sz="quarter" idx="34" hasCustomPrompt="1"/>
          </p:nvPr>
        </p:nvSpPr>
        <p:spPr>
          <a:xfrm>
            <a:off x="5948780" y="9484858"/>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34" name="Text Placeholder 25">
            <a:extLst>
              <a:ext uri="{FF2B5EF4-FFF2-40B4-BE49-F238E27FC236}">
                <a16:creationId xmlns:a16="http://schemas.microsoft.com/office/drawing/2014/main" id="{ACB23A57-1F77-3095-AF20-951A18AAB7CD}"/>
              </a:ext>
            </a:extLst>
          </p:cNvPr>
          <p:cNvSpPr>
            <a:spLocks noGrp="1"/>
          </p:cNvSpPr>
          <p:nvPr>
            <p:ph type="body" sz="quarter" idx="35" hasCustomPrompt="1"/>
          </p:nvPr>
        </p:nvSpPr>
        <p:spPr>
          <a:xfrm>
            <a:off x="5948780" y="9883615"/>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9" name="Text Placeholder 23">
            <a:extLst>
              <a:ext uri="{FF2B5EF4-FFF2-40B4-BE49-F238E27FC236}">
                <a16:creationId xmlns:a16="http://schemas.microsoft.com/office/drawing/2014/main" id="{5CD86E7F-A10A-46A4-5DBB-6CCDD057B41C}"/>
              </a:ext>
            </a:extLst>
          </p:cNvPr>
          <p:cNvSpPr>
            <a:spLocks noGrp="1"/>
          </p:cNvSpPr>
          <p:nvPr>
            <p:ph type="body" sz="quarter" idx="38" hasCustomPrompt="1"/>
          </p:nvPr>
        </p:nvSpPr>
        <p:spPr>
          <a:xfrm>
            <a:off x="5948780" y="15659144"/>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52" name="Text Placeholder 25">
            <a:extLst>
              <a:ext uri="{FF2B5EF4-FFF2-40B4-BE49-F238E27FC236}">
                <a16:creationId xmlns:a16="http://schemas.microsoft.com/office/drawing/2014/main" id="{A0D67751-EAB6-C946-1A05-2093E17F5577}"/>
              </a:ext>
            </a:extLst>
          </p:cNvPr>
          <p:cNvSpPr>
            <a:spLocks noGrp="1"/>
          </p:cNvSpPr>
          <p:nvPr>
            <p:ph type="body" sz="quarter" idx="39" hasCustomPrompt="1"/>
          </p:nvPr>
        </p:nvSpPr>
        <p:spPr>
          <a:xfrm>
            <a:off x="5948780" y="16057901"/>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 name="Text Placeholder 23">
            <a:extLst>
              <a:ext uri="{FF2B5EF4-FFF2-40B4-BE49-F238E27FC236}">
                <a16:creationId xmlns:a16="http://schemas.microsoft.com/office/drawing/2014/main" id="{392E7C11-3ABE-640B-0B9B-ABF444B64BC9}"/>
              </a:ext>
            </a:extLst>
          </p:cNvPr>
          <p:cNvSpPr>
            <a:spLocks noGrp="1"/>
          </p:cNvSpPr>
          <p:nvPr>
            <p:ph type="body" sz="quarter" idx="40" hasCustomPrompt="1"/>
          </p:nvPr>
        </p:nvSpPr>
        <p:spPr>
          <a:xfrm>
            <a:off x="341061" y="15659143"/>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6" name="Text Placeholder 25">
            <a:extLst>
              <a:ext uri="{FF2B5EF4-FFF2-40B4-BE49-F238E27FC236}">
                <a16:creationId xmlns:a16="http://schemas.microsoft.com/office/drawing/2014/main" id="{441AF2D5-C99A-1AAA-6CA9-11FD7D0A4190}"/>
              </a:ext>
            </a:extLst>
          </p:cNvPr>
          <p:cNvSpPr>
            <a:spLocks noGrp="1"/>
          </p:cNvSpPr>
          <p:nvPr>
            <p:ph type="body" sz="quarter" idx="41" hasCustomPrompt="1"/>
          </p:nvPr>
        </p:nvSpPr>
        <p:spPr>
          <a:xfrm>
            <a:off x="341061" y="16086278"/>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pic>
        <p:nvPicPr>
          <p:cNvPr id="4" name="Picture 3">
            <a:extLst>
              <a:ext uri="{FF2B5EF4-FFF2-40B4-BE49-F238E27FC236}">
                <a16:creationId xmlns:a16="http://schemas.microsoft.com/office/drawing/2014/main" id="{66AD00B3-04CE-EF2A-493E-5324A7EB9931}"/>
              </a:ext>
            </a:extLst>
          </p:cNvPr>
          <p:cNvPicPr>
            <a:picLocks noChangeAspect="1"/>
          </p:cNvPicPr>
          <p:nvPr userDrawn="1"/>
        </p:nvPicPr>
        <p:blipFill>
          <a:blip r:embed="rId2">
            <a:extLst>
              <a:ext uri="{28A0092B-C50C-407E-A947-70E740481C1C}">
                <a14:useLocalDpi xmlns:a14="http://schemas.microsoft.com/office/drawing/2010/main" val="0"/>
              </a:ext>
            </a:extLst>
          </a:blip>
          <a:srcRect l="49999" t="5436" r="1"/>
          <a:stretch>
            <a:fillRect/>
          </a:stretch>
        </p:blipFill>
        <p:spPr>
          <a:xfrm>
            <a:off x="414696" y="682910"/>
            <a:ext cx="2995762" cy="2615714"/>
          </a:xfrm>
          <a:prstGeom prst="rect">
            <a:avLst/>
          </a:prstGeom>
          <a:solidFill>
            <a:srgbClr val="FFFFFF"/>
          </a:solidFill>
        </p:spPr>
      </p:pic>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BB890B"/>
        </a:solidFill>
        <a:effectLst/>
      </p:bgPr>
    </p:bg>
    <p:spTree>
      <p:nvGrpSpPr>
        <p:cNvPr id="1" name=""/>
        <p:cNvGrpSpPr/>
        <p:nvPr/>
      </p:nvGrpSpPr>
      <p:grpSpPr>
        <a:xfrm>
          <a:off x="0" y="0"/>
          <a:ext cx="0" cy="0"/>
          <a:chOff x="0" y="0"/>
          <a:chExt cx="0" cy="0"/>
        </a:xfrm>
      </p:grpSpPr>
      <p:sp>
        <p:nvSpPr>
          <p:cNvPr id="3" name="(—THIS SIDEBAR DOES NOT PRINT—)…"/>
          <p:cNvSpPr txBox="1"/>
          <p:nvPr/>
        </p:nvSpPr>
        <p:spPr>
          <a:xfrm>
            <a:off x="-4660961" y="0"/>
            <a:ext cx="4515103" cy="14704618"/>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sz="1800" b="1" dirty="0">
                <a:solidFill>
                  <a:schemeClr val="tx1"/>
                </a:solidFill>
              </a:rPr>
              <a:t>(—THIS SIDEBAR DOES NOT PRINT—)</a:t>
            </a:r>
          </a:p>
          <a:p>
            <a:pPr>
              <a:defRPr sz="4100">
                <a:solidFill>
                  <a:srgbClr val="FFFFFF"/>
                </a:solidFill>
              </a:defRPr>
            </a:pPr>
            <a:endParaRPr sz="1800" dirty="0"/>
          </a:p>
          <a:p>
            <a:pPr marL="0" marR="0" lvl="0" indent="0" algn="l" defTabSz="1785714" rtl="0" eaLnBrk="1" fontAlgn="auto" latinLnBrk="0" hangingPunct="0">
              <a:lnSpc>
                <a:spcPct val="100000"/>
              </a:lnSpc>
              <a:spcBef>
                <a:spcPts val="297"/>
              </a:spcBef>
              <a:spcAft>
                <a:spcPts val="0"/>
              </a:spcAft>
              <a:buClrTx/>
              <a:buSzTx/>
              <a:buFontTx/>
              <a:buNone/>
              <a:tabLst/>
              <a:defRPr sz="4100">
                <a:solidFill>
                  <a:srgbClr val="FFFFFF"/>
                </a:solidFill>
              </a:defRPr>
            </a:pPr>
            <a:r>
              <a:rPr lang="en-GB" sz="1800" dirty="0">
                <a:solidFill>
                  <a:schemeClr val="tx1"/>
                </a:solidFill>
              </a:rPr>
              <a:t>QUICK START</a:t>
            </a:r>
          </a:p>
          <a:p>
            <a:pPr>
              <a:defRPr sz="4100">
                <a:solidFill>
                  <a:srgbClr val="FFFFFF"/>
                </a:solidFill>
              </a:defRPr>
            </a:pPr>
            <a:br>
              <a:rPr lang="en-GB" sz="1800" b="1" u="sng" dirty="0">
                <a:solidFill>
                  <a:schemeClr val="tx1"/>
                </a:solidFill>
              </a:rPr>
            </a:br>
            <a:r>
              <a:rPr sz="1800" b="1" u="sng" dirty="0">
                <a:solidFill>
                  <a:schemeClr val="tx1"/>
                </a:solidFill>
              </a:rPr>
              <a:t>DESIGN GUIDE</a:t>
            </a:r>
          </a:p>
          <a:p>
            <a:pPr>
              <a:defRPr sz="4100">
                <a:solidFill>
                  <a:srgbClr val="FFFFFF"/>
                </a:solidFill>
              </a:defRPr>
            </a:pPr>
            <a:r>
              <a:rPr sz="1800" dirty="0">
                <a:solidFill>
                  <a:schemeClr val="tx1"/>
                </a:solidFill>
              </a:rPr>
              <a:t>This PowerPoint template produces </a:t>
            </a:r>
            <a:r>
              <a:rPr lang="en-GB" sz="1800" dirty="0">
                <a:solidFill>
                  <a:schemeClr val="tx1"/>
                </a:solidFill>
              </a:rPr>
              <a:t>an </a:t>
            </a:r>
            <a:r>
              <a:rPr lang="en-GB" sz="1800" dirty="0" err="1">
                <a:solidFill>
                  <a:schemeClr val="tx1"/>
                </a:solidFill>
              </a:rPr>
              <a:t>ePoster</a:t>
            </a:r>
            <a:r>
              <a:rPr lang="en-GB" sz="1800" dirty="0">
                <a:solidFill>
                  <a:schemeClr val="tx1"/>
                </a:solidFill>
              </a:rPr>
              <a:t> </a:t>
            </a:r>
            <a:r>
              <a:rPr sz="1800" dirty="0">
                <a:solidFill>
                  <a:schemeClr val="tx1"/>
                </a:solidFill>
              </a:rPr>
              <a:t> (</a:t>
            </a:r>
            <a:r>
              <a:rPr lang="en-GB" sz="1800" dirty="0">
                <a:solidFill>
                  <a:schemeClr val="tx1"/>
                </a:solidFill>
              </a:rPr>
              <a:t>31.41</a:t>
            </a:r>
            <a:r>
              <a:rPr sz="1800" dirty="0">
                <a:solidFill>
                  <a:schemeClr val="tx1"/>
                </a:solidFill>
              </a:rPr>
              <a:t>cm x </a:t>
            </a:r>
            <a:r>
              <a:rPr lang="en-GB" sz="1800" dirty="0">
                <a:solidFill>
                  <a:schemeClr val="tx1"/>
                </a:solidFill>
              </a:rPr>
              <a:t>55.85</a:t>
            </a:r>
            <a:r>
              <a:rPr sz="1800" dirty="0">
                <a:solidFill>
                  <a:schemeClr val="tx1"/>
                </a:solidFill>
              </a:rPr>
              <a:t>cm)</a:t>
            </a:r>
            <a:r>
              <a:rPr lang="en-GB" sz="1800" dirty="0">
                <a:solidFill>
                  <a:schemeClr val="tx1"/>
                </a:solidFill>
              </a:rPr>
              <a:t>.</a:t>
            </a:r>
            <a:r>
              <a:rPr sz="1800" dirty="0">
                <a:solidFill>
                  <a:schemeClr val="tx1"/>
                </a:solidFill>
              </a:rPr>
              <a:t> You can use it to create your poster that will be displayed </a:t>
            </a:r>
            <a:r>
              <a:rPr lang="en-GB" sz="1800" dirty="0">
                <a:solidFill>
                  <a:schemeClr val="tx1"/>
                </a:solidFill>
              </a:rPr>
              <a:t>in the IHPBA 2026 </a:t>
            </a:r>
            <a:r>
              <a:rPr lang="en-GB" sz="1800" dirty="0" err="1">
                <a:solidFill>
                  <a:schemeClr val="tx1"/>
                </a:solidFill>
              </a:rPr>
              <a:t>ePoster</a:t>
            </a:r>
            <a:r>
              <a:rPr lang="en-GB" sz="1800" dirty="0">
                <a:solidFill>
                  <a:schemeClr val="tx1"/>
                </a:solidFill>
              </a:rPr>
              <a:t> Gallery</a:t>
            </a:r>
            <a:r>
              <a:rPr sz="1800" dirty="0">
                <a:solidFill>
                  <a:schemeClr val="tx1"/>
                </a:solidFill>
              </a:rPr>
              <a:t>. This template will save valuable time placing titles, subtitles, text, and graphics, and it will allow </a:t>
            </a:r>
            <a:r>
              <a:rPr lang="en-GB" sz="1800" dirty="0">
                <a:solidFill>
                  <a:schemeClr val="tx1"/>
                </a:solidFill>
              </a:rPr>
              <a:t>for consistency </a:t>
            </a:r>
            <a:r>
              <a:rPr sz="1800" dirty="0">
                <a:solidFill>
                  <a:schemeClr val="tx1"/>
                </a:solidFill>
              </a:rPr>
              <a:t>throughout the </a:t>
            </a:r>
            <a:r>
              <a:rPr lang="en-GB" sz="1800" dirty="0" err="1">
                <a:solidFill>
                  <a:schemeClr val="tx1"/>
                </a:solidFill>
              </a:rPr>
              <a:t>eP</a:t>
            </a:r>
            <a:r>
              <a:rPr sz="1800" dirty="0" err="1">
                <a:solidFill>
                  <a:schemeClr val="tx1"/>
                </a:solidFill>
              </a:rPr>
              <a:t>oster</a:t>
            </a:r>
            <a:r>
              <a:rPr lang="en-GB" sz="1800" dirty="0">
                <a:solidFill>
                  <a:schemeClr val="tx1"/>
                </a:solidFill>
              </a:rPr>
              <a:t> gallery.</a:t>
            </a:r>
            <a:endParaRPr sz="1800" dirty="0">
              <a:solidFill>
                <a:schemeClr val="tx1"/>
              </a:solidFill>
            </a:endParaRP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SELECT DESIRED LAYOUT</a:t>
            </a:r>
          </a:p>
          <a:p>
            <a:pPr>
              <a:defRPr sz="4100">
                <a:solidFill>
                  <a:srgbClr val="FFFFFF"/>
                </a:solidFill>
              </a:defRPr>
            </a:pPr>
            <a:r>
              <a:rPr sz="1800" dirty="0">
                <a:solidFill>
                  <a:schemeClr val="tx1"/>
                </a:solidFill>
              </a:rPr>
              <a:t>When designing your own poster, you will be able to choose between the two proposed  layouts - the single or the double column - according to the information you will have to present. Simply click on the slide&gt;layout: office theme, single column or double column</a:t>
            </a:r>
            <a:br>
              <a:rPr lang="en-GB" sz="1800" dirty="0">
                <a:solidFill>
                  <a:schemeClr val="tx1"/>
                </a:solidFill>
              </a:rPr>
            </a:br>
            <a:br>
              <a:rPr lang="en-GB" sz="1800" dirty="0">
                <a:solidFill>
                  <a:schemeClr val="tx1"/>
                </a:solidFill>
              </a:rPr>
            </a:br>
            <a:r>
              <a:rPr lang="en-GB" sz="1800" dirty="0">
                <a:solidFill>
                  <a:schemeClr val="tx1"/>
                </a:solidFill>
              </a:rPr>
              <a:t>Your </a:t>
            </a:r>
            <a:r>
              <a:rPr lang="en-GB" sz="1800" dirty="0" err="1">
                <a:solidFill>
                  <a:schemeClr val="tx1"/>
                </a:solidFill>
              </a:rPr>
              <a:t>ePoster</a:t>
            </a:r>
            <a:r>
              <a:rPr lang="en-GB" sz="1800" dirty="0">
                <a:solidFill>
                  <a:schemeClr val="tx1"/>
                </a:solidFill>
              </a:rPr>
              <a:t> must be in portrait orientation with a MAXIMUM of ONE page only.</a:t>
            </a:r>
            <a:br>
              <a:rPr lang="en-GB" sz="1800" dirty="0">
                <a:solidFill>
                  <a:schemeClr val="tx1"/>
                </a:solidFill>
              </a:rPr>
            </a:br>
            <a:br>
              <a:rPr lang="en-GB" sz="1800" dirty="0">
                <a:solidFill>
                  <a:schemeClr val="tx1"/>
                </a:solidFill>
              </a:rPr>
            </a:br>
            <a:r>
              <a:rPr lang="en-GB" sz="1800" dirty="0">
                <a:solidFill>
                  <a:schemeClr val="tx1"/>
                </a:solidFill>
              </a:rPr>
              <a:t>Delete the slide layout you do not require.</a:t>
            </a:r>
            <a:endParaRPr sz="1800" dirty="0">
              <a:solidFill>
                <a:schemeClr val="tx1"/>
              </a:solidFill>
            </a:endParaRP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TITLE, AUTHORS, AND AFFILIATIONS</a:t>
            </a:r>
          </a:p>
          <a:p>
            <a:pPr>
              <a:defRPr sz="4100">
                <a:solidFill>
                  <a:srgbClr val="FFFFFF"/>
                </a:solidFill>
              </a:defRPr>
            </a:pPr>
            <a:r>
              <a:rPr sz="1800" dirty="0">
                <a:solidFill>
                  <a:schemeClr val="tx1"/>
                </a:solidFill>
              </a:rPr>
              <a:t>Start designing your poster by adding the title of your work, the names of the authors, and the affiliated institutions. This information should be the exact same as what you submitted - no changes are permitted.</a:t>
            </a: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FONT</a:t>
            </a:r>
            <a:r>
              <a:rPr lang="en-GB" sz="1800" b="1" u="sng" dirty="0">
                <a:solidFill>
                  <a:schemeClr val="tx1"/>
                </a:solidFill>
              </a:rPr>
              <a:t>S</a:t>
            </a:r>
          </a:p>
          <a:p>
            <a:pPr>
              <a:defRPr sz="4100">
                <a:solidFill>
                  <a:srgbClr val="FFFFFF"/>
                </a:solidFill>
              </a:defRPr>
            </a:pPr>
            <a:r>
              <a:rPr lang="en-GB" sz="1800" dirty="0">
                <a:solidFill>
                  <a:schemeClr val="tx1"/>
                </a:solidFill>
              </a:rPr>
              <a:t>Fonts permitted are Arial, Helvetica, Calibri, Verdana, Symbol or Times New Roman.  Other fonts may lead to an error message.</a:t>
            </a:r>
            <a:br>
              <a:rPr lang="en-GB" sz="1800" dirty="0">
                <a:solidFill>
                  <a:schemeClr val="tx1"/>
                </a:solidFill>
              </a:rPr>
            </a:br>
            <a:endParaRPr sz="1800" dirty="0">
              <a:solidFill>
                <a:schemeClr val="tx1"/>
              </a:solidFill>
            </a:endParaRPr>
          </a:p>
          <a:p>
            <a:pPr>
              <a:defRPr sz="4100">
                <a:solidFill>
                  <a:srgbClr val="FFFFFF"/>
                </a:solidFill>
              </a:defRPr>
            </a:pPr>
            <a:r>
              <a:rPr sz="1800" b="1" u="sng" dirty="0">
                <a:solidFill>
                  <a:schemeClr val="tx1"/>
                </a:solidFill>
              </a:rPr>
              <a:t>FONT</a:t>
            </a:r>
            <a:r>
              <a:rPr lang="en-GB" sz="1800" b="1" u="sng" dirty="0">
                <a:solidFill>
                  <a:schemeClr val="tx1"/>
                </a:solidFill>
              </a:rPr>
              <a:t> and </a:t>
            </a:r>
            <a:r>
              <a:rPr sz="1800" b="1" u="sng" dirty="0">
                <a:solidFill>
                  <a:schemeClr val="tx1"/>
                </a:solidFill>
              </a:rPr>
              <a:t>TEXT SIZE </a:t>
            </a:r>
          </a:p>
          <a:p>
            <a:pPr>
              <a:defRPr sz="4100">
                <a:solidFill>
                  <a:srgbClr val="FFFFFF"/>
                </a:solidFill>
              </a:defRPr>
            </a:pPr>
            <a:r>
              <a:rPr sz="1800" dirty="0">
                <a:solidFill>
                  <a:schemeClr val="tx1"/>
                </a:solidFill>
              </a:rPr>
              <a:t>Adjust the size of your text based on how much content you have to present. The default template text offers a good starting point</a:t>
            </a:r>
            <a:r>
              <a:rPr lang="en-GB" sz="1800" dirty="0">
                <a:solidFill>
                  <a:schemeClr val="tx1"/>
                </a:solidFill>
              </a:rPr>
              <a:t> but can be adjusted to meet your own requirements.</a:t>
            </a:r>
          </a:p>
          <a:p>
            <a:pPr>
              <a:defRPr sz="4100">
                <a:solidFill>
                  <a:srgbClr val="FFFFFF"/>
                </a:solidFill>
              </a:defRPr>
            </a:pPr>
            <a:endParaRPr lang="en-US" sz="1800" dirty="0">
              <a:solidFill>
                <a:schemeClr val="tx1"/>
              </a:solidFill>
            </a:endParaRPr>
          </a:p>
        </p:txBody>
      </p:sp>
      <p:sp>
        <p:nvSpPr>
          <p:cNvPr id="6" name="(—THIS SIDEBAR DOES NOT PRINT—)…"/>
          <p:cNvSpPr txBox="1"/>
          <p:nvPr/>
        </p:nvSpPr>
        <p:spPr>
          <a:xfrm>
            <a:off x="11287258" y="-46197"/>
            <a:ext cx="4528229" cy="14664479"/>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sz="1800" b="1" dirty="0">
                <a:solidFill>
                  <a:schemeClr val="tx1"/>
                </a:solidFill>
              </a:rPr>
              <a:t>(—THIS SIDEBAR DOES NOT PRINT—)</a:t>
            </a:r>
          </a:p>
          <a:p>
            <a:pPr>
              <a:defRPr sz="4100">
                <a:solidFill>
                  <a:srgbClr val="FFFFFF"/>
                </a:solidFill>
              </a:defRPr>
            </a:pPr>
            <a:endParaRPr sz="1800" dirty="0">
              <a:solidFill>
                <a:schemeClr val="tx1"/>
              </a:solidFill>
            </a:endParaRPr>
          </a:p>
          <a:p>
            <a:pPr>
              <a:defRPr sz="4100">
                <a:solidFill>
                  <a:srgbClr val="FFFFFF"/>
                </a:solidFill>
              </a:defRPr>
            </a:pPr>
            <a:r>
              <a:rPr sz="1800" dirty="0">
                <a:solidFill>
                  <a:schemeClr val="tx1"/>
                </a:solidFill>
              </a:rPr>
              <a:t>QUICK START (cont.)</a:t>
            </a:r>
          </a:p>
          <a:p>
            <a:pPr>
              <a:defRPr sz="4100">
                <a:solidFill>
                  <a:srgbClr val="FFFFFF"/>
                </a:solidFill>
              </a:defRPr>
            </a:pPr>
            <a:endParaRPr lang="en-GB" sz="1800" b="1" u="sng" dirty="0">
              <a:solidFill>
                <a:schemeClr val="tx1"/>
              </a:solidFill>
            </a:endParaRPr>
          </a:p>
          <a:p>
            <a:pPr>
              <a:defRPr sz="4100">
                <a:solidFill>
                  <a:srgbClr val="FFFFFF"/>
                </a:solidFill>
              </a:defRPr>
            </a:pPr>
            <a:r>
              <a:rPr sz="1800" b="1" u="sng" dirty="0">
                <a:solidFill>
                  <a:schemeClr val="tx1"/>
                </a:solidFill>
              </a:rPr>
              <a:t>PHOTOGRAPHS / GRAPHICS</a:t>
            </a:r>
          </a:p>
          <a:p>
            <a:pPr>
              <a:defRPr sz="4100">
                <a:solidFill>
                  <a:srgbClr val="FFFFFF"/>
                </a:solidFill>
              </a:defRPr>
            </a:pPr>
            <a:r>
              <a:rPr sz="1800" dirty="0">
                <a:solidFill>
                  <a:schemeClr val="tx1"/>
                </a:solidFill>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disproportionally. The image and/or graphic captions should be</a:t>
            </a:r>
            <a:r>
              <a:rPr lang="en-GB" sz="1800" dirty="0">
                <a:solidFill>
                  <a:schemeClr val="tx1"/>
                </a:solidFill>
              </a:rPr>
              <a:t> </a:t>
            </a:r>
            <a:r>
              <a:rPr sz="1800" dirty="0">
                <a:solidFill>
                  <a:schemeClr val="tx1"/>
                </a:solidFill>
              </a:rPr>
              <a:t>centered.</a:t>
            </a:r>
          </a:p>
          <a:p>
            <a:pPr>
              <a:defRPr sz="4100">
                <a:solidFill>
                  <a:srgbClr val="FFFFFF"/>
                </a:solidFill>
              </a:defRPr>
            </a:pPr>
            <a:endParaRPr sz="1800" b="1" u="sng" dirty="0">
              <a:solidFill>
                <a:schemeClr val="tx1"/>
              </a:solidFill>
            </a:endParaRPr>
          </a:p>
          <a:p>
            <a:pPr>
              <a:defRPr sz="4100">
                <a:solidFill>
                  <a:srgbClr val="FFFFFF"/>
                </a:solidFill>
              </a:defRPr>
            </a:pPr>
            <a:r>
              <a:rPr sz="1800" b="1" u="sng" dirty="0">
                <a:solidFill>
                  <a:schemeClr val="tx1"/>
                </a:solidFill>
              </a:rPr>
              <a:t>ADDING LOGO</a:t>
            </a:r>
            <a:r>
              <a:rPr lang="en-GB" sz="1800" b="1" u="sng" dirty="0">
                <a:solidFill>
                  <a:schemeClr val="tx1"/>
                </a:solidFill>
              </a:rPr>
              <a:t>S</a:t>
            </a:r>
            <a:endParaRPr sz="1800" b="1" u="sng" dirty="0">
              <a:solidFill>
                <a:schemeClr val="tx1"/>
              </a:solidFill>
            </a:endParaRPr>
          </a:p>
          <a:p>
            <a:pPr>
              <a:defRPr sz="4100">
                <a:solidFill>
                  <a:srgbClr val="FFFFFF"/>
                </a:solidFill>
              </a:defRPr>
            </a:pPr>
            <a:r>
              <a:rPr sz="1800" dirty="0">
                <a:solidFill>
                  <a:schemeClr val="tx1"/>
                </a:solidFill>
              </a:rPr>
              <a:t>Do not remove </a:t>
            </a:r>
            <a:r>
              <a:rPr lang="en-GB" sz="1800" dirty="0">
                <a:solidFill>
                  <a:schemeClr val="tx1"/>
                </a:solidFill>
              </a:rPr>
              <a:t>the IHPBA 2026 logo</a:t>
            </a:r>
            <a:r>
              <a:rPr sz="1800" dirty="0">
                <a:solidFill>
                  <a:schemeClr val="tx1"/>
                </a:solidFill>
              </a:rPr>
              <a:t>. You can insert </a:t>
            </a:r>
            <a:r>
              <a:rPr lang="en-GB" sz="1800" dirty="0">
                <a:solidFill>
                  <a:schemeClr val="tx1"/>
                </a:solidFill>
              </a:rPr>
              <a:t>your institutions </a:t>
            </a:r>
            <a:r>
              <a:rPr sz="1800" dirty="0">
                <a:solidFill>
                  <a:schemeClr val="tx1"/>
                </a:solidFill>
              </a:rPr>
              <a:t>logo </a:t>
            </a:r>
            <a:r>
              <a:rPr lang="en-GB" sz="1800" dirty="0">
                <a:solidFill>
                  <a:schemeClr val="tx1"/>
                </a:solidFill>
              </a:rPr>
              <a:t>where</a:t>
            </a:r>
            <a:r>
              <a:rPr sz="1800" dirty="0">
                <a:solidFill>
                  <a:schemeClr val="tx1"/>
                </a:solidFill>
              </a:rPr>
              <a:t> applicable in the </a:t>
            </a:r>
            <a:r>
              <a:rPr lang="en-GB" sz="1800" dirty="0" err="1">
                <a:solidFill>
                  <a:schemeClr val="tx1"/>
                </a:solidFill>
              </a:rPr>
              <a:t>eP</a:t>
            </a:r>
            <a:r>
              <a:rPr sz="1800" dirty="0" err="1">
                <a:solidFill>
                  <a:schemeClr val="tx1"/>
                </a:solidFill>
              </a:rPr>
              <a:t>oster</a:t>
            </a:r>
            <a:r>
              <a:rPr sz="1800" dirty="0">
                <a:solidFill>
                  <a:schemeClr val="tx1"/>
                </a:solidFill>
              </a:rPr>
              <a:t> as long as it does not cover up </a:t>
            </a:r>
            <a:r>
              <a:rPr lang="en-GB" sz="1800" dirty="0">
                <a:solidFill>
                  <a:schemeClr val="tx1"/>
                </a:solidFill>
              </a:rPr>
              <a:t>the IHPBA 2026</a:t>
            </a:r>
            <a:r>
              <a:rPr sz="1800" dirty="0">
                <a:solidFill>
                  <a:schemeClr val="tx1"/>
                </a:solidFill>
              </a:rPr>
              <a:t> logo. Logos taken from web sites are likely to be low quality</a:t>
            </a:r>
            <a:r>
              <a:rPr lang="en-GB" sz="1800" dirty="0">
                <a:solidFill>
                  <a:schemeClr val="tx1"/>
                </a:solidFill>
              </a:rPr>
              <a:t>.  </a:t>
            </a:r>
            <a:r>
              <a:rPr sz="1800" dirty="0">
                <a:solidFill>
                  <a:schemeClr val="tx1"/>
                </a:solidFill>
              </a:rPr>
              <a:t>Zoom in at 100% to see what the logo will look like on the final </a:t>
            </a:r>
            <a:r>
              <a:rPr lang="en-GB" sz="1800" dirty="0" err="1">
                <a:solidFill>
                  <a:schemeClr val="tx1"/>
                </a:solidFill>
              </a:rPr>
              <a:t>eP</a:t>
            </a:r>
            <a:r>
              <a:rPr sz="1800" dirty="0" err="1">
                <a:solidFill>
                  <a:schemeClr val="tx1"/>
                </a:solidFill>
              </a:rPr>
              <a:t>oster</a:t>
            </a:r>
            <a:r>
              <a:rPr sz="1800" dirty="0">
                <a:solidFill>
                  <a:schemeClr val="tx1"/>
                </a:solidFill>
              </a:rPr>
              <a:t> and make any necessary adjustments. Use the white version of the logo if added on top of the </a:t>
            </a:r>
            <a:r>
              <a:rPr lang="en-GB" sz="1800" dirty="0">
                <a:solidFill>
                  <a:schemeClr val="tx1"/>
                </a:solidFill>
              </a:rPr>
              <a:t>purple </a:t>
            </a:r>
            <a:r>
              <a:rPr sz="1800" dirty="0">
                <a:solidFill>
                  <a:schemeClr val="tx1"/>
                </a:solidFill>
              </a:rPr>
              <a:t>space.</a:t>
            </a: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IMAGE QUALITY CHECK</a:t>
            </a:r>
          </a:p>
          <a:p>
            <a:pPr>
              <a:defRPr sz="4100">
                <a:solidFill>
                  <a:srgbClr val="FFFFFF"/>
                </a:solidFill>
              </a:defRPr>
            </a:pPr>
            <a:r>
              <a:rPr sz="1800" dirty="0">
                <a:solidFill>
                  <a:schemeClr val="tx1"/>
                </a:solidFill>
              </a:rPr>
              <a:t>Zoom in and look at your images at 100% magnification. If they look good, they will </a:t>
            </a:r>
            <a:r>
              <a:rPr lang="en-GB" sz="1800" dirty="0">
                <a:solidFill>
                  <a:schemeClr val="tx1"/>
                </a:solidFill>
              </a:rPr>
              <a:t>upload</a:t>
            </a:r>
            <a:r>
              <a:rPr sz="1800" dirty="0">
                <a:solidFill>
                  <a:schemeClr val="tx1"/>
                </a:solidFill>
              </a:rPr>
              <a:t> well. </a:t>
            </a:r>
          </a:p>
          <a:p>
            <a:pPr>
              <a:defRPr sz="4100">
                <a:solidFill>
                  <a:srgbClr val="FFFFFF"/>
                </a:solidFill>
              </a:defRPr>
            </a:pPr>
            <a:endParaRPr sz="1800" dirty="0">
              <a:solidFill>
                <a:schemeClr val="tx1"/>
              </a:solidFill>
            </a:endParaRPr>
          </a:p>
          <a:p>
            <a:pPr>
              <a:defRPr sz="4100">
                <a:solidFill>
                  <a:srgbClr val="FFFFFF"/>
                </a:solidFill>
              </a:defRPr>
            </a:pPr>
            <a:r>
              <a:rPr lang="en-US" sz="1800" b="1" u="sng" dirty="0">
                <a:solidFill>
                  <a:schemeClr val="tx1"/>
                </a:solidFill>
              </a:rPr>
              <a:t>SAVE YOUR WORK</a:t>
            </a:r>
          </a:p>
          <a:p>
            <a:pPr>
              <a:defRPr sz="4100">
                <a:solidFill>
                  <a:srgbClr val="FFFFFF"/>
                </a:solidFill>
              </a:defRPr>
            </a:pPr>
            <a:r>
              <a:rPr lang="en-US" sz="1800" dirty="0">
                <a:solidFill>
                  <a:schemeClr val="tx1"/>
                </a:solidFill>
              </a:rPr>
              <a:t>To save your poster as a PDF document (.pdf).</a:t>
            </a:r>
          </a:p>
          <a:p>
            <a:pPr>
              <a:defRPr sz="4100">
                <a:solidFill>
                  <a:srgbClr val="FFFFFF"/>
                </a:solidFill>
              </a:defRPr>
            </a:pPr>
            <a:r>
              <a:rPr lang="en-US" sz="1800" dirty="0">
                <a:solidFill>
                  <a:schemeClr val="tx1"/>
                </a:solidFill>
              </a:rPr>
              <a:t>File &gt; save as &gt; PDF.</a:t>
            </a:r>
          </a:p>
          <a:p>
            <a:pPr>
              <a:defRPr sz="4100">
                <a:solidFill>
                  <a:srgbClr val="FFFFFF"/>
                </a:solidFill>
              </a:defRPr>
            </a:pPr>
            <a:r>
              <a:rPr lang="en-US" sz="1800" dirty="0">
                <a:solidFill>
                  <a:schemeClr val="tx1"/>
                </a:solidFill>
              </a:rPr>
              <a:t>You may also save and upload as a PowerPoint slide (PPT, PPTX). </a:t>
            </a:r>
            <a:br>
              <a:rPr lang="en-US" sz="1800" dirty="0">
                <a:solidFill>
                  <a:schemeClr val="tx1"/>
                </a:solidFill>
              </a:rPr>
            </a:br>
            <a:endParaRPr lang="en-US" sz="1800" dirty="0">
              <a:solidFill>
                <a:schemeClr val="tx1"/>
              </a:solidFill>
            </a:endParaRPr>
          </a:p>
          <a:p>
            <a:pPr>
              <a:defRPr sz="4100">
                <a:solidFill>
                  <a:srgbClr val="FFFFFF"/>
                </a:solidFill>
              </a:defRPr>
            </a:pPr>
            <a:r>
              <a:rPr lang="en-US" sz="1800" b="1" dirty="0">
                <a:solidFill>
                  <a:schemeClr val="tx1"/>
                </a:solidFill>
              </a:rPr>
              <a:t>UPLOAD YOUR EPOSTER</a:t>
            </a:r>
          </a:p>
          <a:p>
            <a:pPr>
              <a:defRPr sz="4100">
                <a:solidFill>
                  <a:srgbClr val="FFFFFF"/>
                </a:solidFill>
              </a:defRPr>
            </a:pPr>
            <a:r>
              <a:rPr lang="en-US" sz="1800" dirty="0">
                <a:solidFill>
                  <a:schemeClr val="tx1"/>
                </a:solidFill>
              </a:rPr>
              <a:t>The </a:t>
            </a:r>
            <a:r>
              <a:rPr lang="en-US" sz="1800" dirty="0" err="1">
                <a:solidFill>
                  <a:schemeClr val="tx1"/>
                </a:solidFill>
              </a:rPr>
              <a:t>ePoster</a:t>
            </a:r>
            <a:r>
              <a:rPr lang="en-US" sz="1800" dirty="0">
                <a:solidFill>
                  <a:schemeClr val="tx1"/>
                </a:solidFill>
              </a:rPr>
              <a:t> upload system opens </a:t>
            </a:r>
            <a:r>
              <a:rPr lang="en-US" sz="1800" b="1" dirty="0">
                <a:solidFill>
                  <a:srgbClr val="FF0000"/>
                </a:solidFill>
              </a:rPr>
              <a:t>18 August 2026</a:t>
            </a:r>
            <a:r>
              <a:rPr lang="en-US" sz="1800" dirty="0">
                <a:solidFill>
                  <a:schemeClr val="tx1"/>
                </a:solidFill>
              </a:rPr>
              <a:t>.  Prior to that date, the presenting author will receive a </a:t>
            </a:r>
            <a:r>
              <a:rPr lang="en-US" sz="1800" dirty="0" err="1">
                <a:solidFill>
                  <a:schemeClr val="tx1"/>
                </a:solidFill>
              </a:rPr>
              <a:t>personalised</a:t>
            </a:r>
            <a:r>
              <a:rPr lang="en-US" sz="1800" dirty="0">
                <a:solidFill>
                  <a:schemeClr val="tx1"/>
                </a:solidFill>
              </a:rPr>
              <a:t> link to upload their </a:t>
            </a:r>
            <a:r>
              <a:rPr lang="en-US" sz="1800" dirty="0" err="1">
                <a:solidFill>
                  <a:schemeClr val="tx1"/>
                </a:solidFill>
              </a:rPr>
              <a:t>ePoster</a:t>
            </a:r>
            <a:r>
              <a:rPr lang="en-US" sz="1800" dirty="0">
                <a:solidFill>
                  <a:schemeClr val="tx1"/>
                </a:solidFill>
              </a:rPr>
              <a:t>.</a:t>
            </a:r>
          </a:p>
          <a:p>
            <a:pPr>
              <a:defRPr sz="4100">
                <a:solidFill>
                  <a:srgbClr val="FFFFFF"/>
                </a:solidFill>
              </a:defRPr>
            </a:pPr>
            <a:br>
              <a:rPr lang="en-US" sz="1800" dirty="0">
                <a:solidFill>
                  <a:schemeClr val="tx1"/>
                </a:solidFill>
              </a:rPr>
            </a:br>
            <a:endParaRPr sz="1800" dirty="0">
              <a:solidFill>
                <a:schemeClr val="tx1"/>
              </a:solidFill>
            </a:endParaRPr>
          </a:p>
          <a:p>
            <a:pPr>
              <a:defRPr sz="4100">
                <a:solidFill>
                  <a:srgbClr val="FFFFFF"/>
                </a:solidFill>
              </a:defRPr>
            </a:pPr>
            <a:r>
              <a:rPr sz="1800" dirty="0">
                <a:solidFill>
                  <a:schemeClr val="tx1"/>
                </a:solidFill>
              </a:rPr>
              <a:t>THANK YOU!</a:t>
            </a:r>
          </a:p>
        </p:txBody>
      </p:sp>
      <p:sp>
        <p:nvSpPr>
          <p:cNvPr id="8" name="Rectángulo redondeado 3"/>
          <p:cNvSpPr/>
          <p:nvPr/>
        </p:nvSpPr>
        <p:spPr>
          <a:xfrm>
            <a:off x="322336" y="3987046"/>
            <a:ext cx="10496728" cy="15465378"/>
          </a:xfrm>
          <a:prstGeom prst="roundRect">
            <a:avLst>
              <a:gd name="adj" fmla="val 1387"/>
            </a:avLst>
          </a:prstGeom>
          <a:solidFill>
            <a:srgbClr val="FFFFFF"/>
          </a:solidFill>
          <a:ln w="12700">
            <a:miter lim="400000"/>
          </a:ln>
        </p:spPr>
        <p:txBody>
          <a:bodyPr lIns="16852" rIns="16852" anchor="ctr"/>
          <a:lstStyle/>
          <a:p>
            <a:pPr algn="ctr"/>
            <a:endParaRPr sz="468" dirty="0"/>
          </a:p>
        </p:txBody>
      </p:sp>
      <p:pic>
        <p:nvPicPr>
          <p:cNvPr id="5" name="Picture 4">
            <a:extLst>
              <a:ext uri="{FF2B5EF4-FFF2-40B4-BE49-F238E27FC236}">
                <a16:creationId xmlns:a16="http://schemas.microsoft.com/office/drawing/2014/main" id="{5CFFAC02-4265-FCEC-382A-62797D814F63}"/>
              </a:ext>
            </a:extLst>
          </p:cNvPr>
          <p:cNvPicPr>
            <a:picLocks noChangeAspect="1"/>
          </p:cNvPicPr>
          <p:nvPr userDrawn="1"/>
        </p:nvPicPr>
        <p:blipFill>
          <a:blip r:embed="rId4">
            <a:extLst>
              <a:ext uri="{28A0092B-C50C-407E-A947-70E740481C1C}">
                <a14:useLocalDpi xmlns:a14="http://schemas.microsoft.com/office/drawing/2010/main" val="0"/>
              </a:ext>
            </a:extLst>
          </a:blip>
          <a:srcRect l="49999" t="5436" r="1"/>
          <a:stretch>
            <a:fillRect/>
          </a:stretch>
        </p:blipFill>
        <p:spPr>
          <a:xfrm>
            <a:off x="414696" y="682910"/>
            <a:ext cx="2995762" cy="2615714"/>
          </a:xfrm>
          <a:prstGeom prst="rect">
            <a:avLst/>
          </a:prstGeom>
          <a:solidFill>
            <a:srgbClr val="FFFFFF"/>
          </a:solidFill>
        </p:spPr>
      </p:pic>
    </p:spTree>
  </p:cSld>
  <p:clrMap bg1="lt1" tx1="dk1" bg2="lt2" tx2="dk2" accent1="accent1" accent2="accent2" accent3="accent3" accent4="accent4" accent5="accent5" accent6="accent6" hlink="hlink" folHlink="folHlink"/>
  <p:sldLayoutIdLst>
    <p:sldLayoutId id="2147483649" r:id="rId1"/>
    <p:sldLayoutId id="2147483650" r:id="rId2"/>
  </p:sldLayoutIdLst>
  <p:transition spd="med"/>
  <p:txStyles>
    <p:titleStyle>
      <a:lvl1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1pPr>
      <a:lvl2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2pPr>
      <a:lvl3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3pPr>
      <a:lvl4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4pPr>
      <a:lvl5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5pPr>
      <a:lvl6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6pPr>
      <a:lvl7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7pPr>
      <a:lvl8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8pPr>
      <a:lvl9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9pPr>
    </p:titleStyle>
    <p:bodyStyle>
      <a:lvl1pPr marL="0" marR="0" indent="0" algn="l" defTabSz="1553858" rtl="0" latinLnBrk="0">
        <a:lnSpc>
          <a:spcPct val="100000"/>
        </a:lnSpc>
        <a:spcBef>
          <a:spcPts val="369"/>
        </a:spcBef>
        <a:spcAft>
          <a:spcPts val="0"/>
        </a:spcAft>
        <a:buClrTx/>
        <a:buSzTx/>
        <a:buFontTx/>
        <a:buNone/>
        <a:tabLst/>
        <a:defRPr sz="1401" b="0" i="0" u="none" strike="noStrike" cap="none" spc="0" baseline="0">
          <a:ln>
            <a:noFill/>
          </a:ln>
          <a:solidFill>
            <a:srgbClr val="FFFFFF"/>
          </a:solidFill>
          <a:uFillTx/>
          <a:latin typeface="Arial"/>
          <a:ea typeface="Arial"/>
          <a:cs typeface="Arial"/>
          <a:sym typeface="Arial"/>
        </a:defRPr>
      </a:lvl1pPr>
      <a:lvl2pPr marL="943163" marR="0" indent="-166235"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2pPr>
      <a:lvl3pPr marL="1714311"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3pPr>
      <a:lvl4pPr marL="2508638" marR="0" indent="-177851"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4pPr>
      <a:lvl5pPr marL="3285567" marR="0" indent="-177851"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5pPr>
      <a:lvl6pPr marL="4045097"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6pPr>
      <a:lvl7pPr marL="4822026"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7pPr>
      <a:lvl8pPr marL="5598955"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8pPr>
      <a:lvl9pPr marL="6375884"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9pPr>
    </p:bodyStyle>
    <p:otherStyle>
      <a:lvl1pPr marL="0" marR="0" indent="0"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1pPr>
      <a:lvl2pPr marL="0" marR="0" indent="776928"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2pPr>
      <a:lvl3pPr marL="0" marR="0" indent="1553858"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3pPr>
      <a:lvl4pPr marL="0" marR="0" indent="2330787"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4pPr>
      <a:lvl5pPr marL="0" marR="0" indent="3107716"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5pPr>
      <a:lvl6pPr marL="0" marR="0" indent="3884645"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6pPr>
      <a:lvl7pPr marL="0" marR="0" indent="4661574"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7pPr>
      <a:lvl8pPr marL="0" marR="0" indent="5438502"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8pPr>
      <a:lvl9pPr marL="0" marR="0" indent="6215432"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ImgFaEye" Type="http://schemas.openxmlformats.org/officeDocument/2006/relationships/image" Target="../media/p1_FaEye.png"/><Relationship Id="rIdImgFaHandDots" Type="http://schemas.openxmlformats.org/officeDocument/2006/relationships/image" Target="../media/p1_FaHandDots.png"/><Relationship Id="rIdImgFaMaximize" Type="http://schemas.openxmlformats.org/officeDocument/2006/relationships/image" Target="../media/p1_FaMaximize.png"/><Relationship Id="rIdImgFaRobot" Type="http://schemas.openxmlformats.org/officeDocument/2006/relationships/image" Target="../media/p1_FaRobot.png"/><Relationship Id="rIdImgFig" Type="http://schemas.openxmlformats.org/officeDocument/2006/relationships/image" Target="../media/p1_i-003.png"/><Relationship Id="rIdImgFaClock" Type="http://schemas.openxmlformats.org/officeDocument/2006/relationships/image" Target="../media/p1_FaClock.png"/><Relationship Id="rIdImgFaUserDoctor" Type="http://schemas.openxmlformats.org/officeDocument/2006/relationships/image" Target="../media/p1_FaUserDoctor.png"/><Relationship Id="rIdImgFaScaleUnbalanced" Type="http://schemas.openxmlformats.org/officeDocument/2006/relationships/image" Target="../media/p1_FaScaleUnbalanced.png"/><Relationship Id="rIdImgQR" Type="http://schemas.openxmlformats.org/officeDocument/2006/relationships/image" Target="../media/p1_qr.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p:cNvSpPr>
            <a:spLocks noGrp="1"/>
          </p:cNvSpPr>
          <p:nvPr>
            <p:ph type="body" sz="quarter" idx="26"/>
          </p:nvPr>
        </p:nvSpPr>
        <p:spPr>
          <a:xfrm>
            <a:off x="4123944" y="347472"/>
            <a:ext cx="6702552" cy="1307592"/>
          </a:xfrm>
        </p:spPr>
        <p:txBody>
          <a:bodyPr anchor="b">
            <a:noAutofit/>
          </a:bodyPr>
          <a:lstStyle/>
          <a:p>
            <a:pPr marL="0" indent="0">
              <a:spcBef>
                <a:spcPts val="0"/>
              </a:spcBef>
              <a:spcAft>
                <a:spcPts val="0"/>
              </a:spcAft>
              <a:buNone/>
            </a:pPr>
            <a:r>
              <a:rPr lang="en-US" sz="2800" b="1" dirty="0"/>
              <a:t>Clinical review of robotic distal pancreatectomy</a:t>
            </a:r>
          </a:p>
        </p:txBody>
      </p:sp>
      <p:sp>
        <p:nvSpPr>
          <p:cNvPr id="102" name="Authors"/>
          <p:cNvSpPr>
            <a:spLocks noGrp="1"/>
          </p:cNvSpPr>
          <p:nvPr>
            <p:ph type="body" sz="quarter" idx="27"/>
          </p:nvPr>
        </p:nvSpPr>
        <p:spPr>
          <a:xfrm>
            <a:off x="4123944" y="1783080"/>
            <a:ext cx="6702552" cy="548640"/>
          </a:xfrm>
        </p:spPr>
        <p:txBody>
          <a:bodyPr anchor="t">
            <a:noAutofit/>
          </a:bodyPr>
          <a:lstStyle/>
          <a:p>
            <a:pPr marL="0" indent="0">
              <a:spcBef>
                <a:spcPts val="0"/>
              </a:spcBef>
              <a:spcAft>
                <a:spcPts val="0"/>
              </a:spcAft>
              <a:buNone/>
            </a:pPr>
            <a:r>
              <a:rPr lang="en-US" sz="1600" b="1" dirty="0"/>
              <a:t>Naeun Hwang</a:t>
            </a:r>
            <a:r>
              <a:rPr lang="en-US" sz="1300" baseline="30000" dirty="0"/>
              <a:t>1</a:t>
            </a:r>
            <a:r>
              <a:rPr lang="en-US" sz="1600" b="1" dirty="0"/>
              <a:t>, Sam Reddish</a:t>
            </a:r>
            <a:r>
              <a:rPr lang="en-US" sz="1300" baseline="30000" dirty="0"/>
              <a:t>1</a:t>
            </a:r>
            <a:r>
              <a:rPr lang="en-US" sz="1600" b="1" dirty="0"/>
              <a:t>, Jonathan Koea</a:t>
            </a:r>
            <a:r>
              <a:rPr lang="en-US" sz="1300" baseline="30000" dirty="0"/>
              <a:t>1,2</a:t>
            </a:r>
            <a:r>
              <a:rPr lang="en-US" sz="1600" b="1" dirty="0"/>
              <a:t>, Sanket Srinivasa</a:t>
            </a:r>
            <a:r>
              <a:rPr lang="en-US" sz="1300" baseline="30000" dirty="0"/>
              <a:t>1,2</a:t>
            </a:r>
          </a:p>
        </p:txBody>
      </p:sp>
      <p:sp>
        <p:nvSpPr>
          <p:cNvPr id="103" name="Affiliations"/>
          <p:cNvSpPr>
            <a:spLocks noGrp="1"/>
          </p:cNvSpPr>
          <p:nvPr>
            <p:ph type="body" sz="quarter" idx="25"/>
          </p:nvPr>
        </p:nvSpPr>
        <p:spPr>
          <a:xfrm>
            <a:off x="4123944" y="2395728"/>
            <a:ext cx="6702552" cy="1005840"/>
          </a:xfrm>
        </p:spPr>
        <p:txBody>
          <a:bodyPr anchor="t">
            <a:noAutofit/>
          </a:bodyPr>
          <a:lstStyle/>
          <a:p>
            <a:pPr marL="0" indent="0">
              <a:spcBef>
                <a:spcPts val="0"/>
              </a:spcBef>
              <a:spcAft>
                <a:spcPts val="200"/>
              </a:spcAft>
              <a:buNone/>
            </a:pPr>
            <a:r>
              <a:rPr lang="en-US" sz="1300" baseline="30000" dirty="0"/>
              <a:t>1</a:t>
            </a:r>
            <a:r>
              <a:rPr lang="en-US" sz="1200" dirty="0"/>
              <a:t>Upper GI Unit, Department of Surgery, Te Whatu Ora Waitematā, Auckland, New Zealand</a:t>
            </a:r>
          </a:p>
          <a:p>
            <a:pPr marL="0" indent="0">
              <a:spcBef>
                <a:spcPts val="0"/>
              </a:spcBef>
              <a:spcAft>
                <a:spcPts val="0"/>
              </a:spcAft>
              <a:buNone/>
            </a:pPr>
            <a:r>
              <a:rPr lang="en-US" sz="1300" baseline="30000" dirty="0"/>
              <a:t>2</a:t>
            </a:r>
            <a:r>
              <a:rPr lang="en-US" sz="1200" dirty="0"/>
              <a:t>Department of Surgery, University of Auckland, Auckland, New Zealand</a:t>
            </a:r>
          </a:p>
        </p:txBody>
      </p:sp>
      <p:sp>
        <p:nvSpPr>
          <p:cNvPr id="105" name="Stat ≈1 day"/>
          <p:cNvSpPr txBox="1"/>
          <p:nvPr/>
        </p:nvSpPr>
        <p:spPr>
          <a:xfrm>
            <a:off x="685800" y="4270248"/>
            <a:ext cx="2304288" cy="1078992"/>
          </a:xfrm>
          <a:prstGeom prst="roundRect">
            <a:avLst>
              <a:gd name="adj" fmla="val 9000"/>
            </a:avLst>
          </a:prstGeom>
          <a:noFill/>
          <a:ln w="12700">
            <a:solidFill>
              <a:srgbClr val="213C80"/>
            </a:solidFill>
          </a:ln>
        </p:spPr>
        <p:txBody>
          <a:bodyPr wrap="square" lIns="73152" tIns="73152" rIns="73152" bIns="73152" anchor="ctr">
            <a:noAutofit/>
          </a:bodyPr>
          <a:lstStyle/>
          <a:p>
            <a:pPr algn="ctr" marL="0" indent="0">
              <a:spcBef>
                <a:spcPts val="0"/>
              </a:spcBef>
              <a:spcAft>
                <a:spcPts val="200"/>
              </a:spcAft>
              <a:buNone/>
            </a:pPr>
            <a:r>
              <a:rPr lang="en-US" sz="3200" b="1" dirty="0">
                <a:solidFill>
                  <a:srgbClr val="213C80"/>
                </a:solidFill>
              </a:rPr>
              <a:t>≈1 day</a:t>
            </a:r>
          </a:p>
          <a:p>
            <a:pPr algn="ctr" marL="0" indent="0">
              <a:spcBef>
                <a:spcPts val="0"/>
              </a:spcBef>
              <a:spcAft>
                <a:spcPts val="0"/>
              </a:spcAft>
              <a:buNone/>
            </a:pPr>
            <a:r>
              <a:rPr lang="en-US" sz="1300" dirty="0">
                <a:solidFill>
                  <a:srgbClr val="1F2937"/>
                </a:solidFill>
              </a:rPr>
              <a:t>shorter hospital stay than laparoscopic</a:t>
            </a:r>
          </a:p>
        </p:txBody>
      </p:sp>
      <p:sp>
        <p:nvSpPr>
          <p:cNvPr id="106" name="Stat 0%"/>
          <p:cNvSpPr txBox="1"/>
          <p:nvPr/>
        </p:nvSpPr>
        <p:spPr>
          <a:xfrm>
            <a:off x="3172968" y="4270248"/>
            <a:ext cx="2304288" cy="1078992"/>
          </a:xfrm>
          <a:prstGeom prst="roundRect">
            <a:avLst>
              <a:gd name="adj" fmla="val 9000"/>
            </a:avLst>
          </a:prstGeom>
          <a:noFill/>
          <a:ln w="12700">
            <a:solidFill>
              <a:srgbClr val="213C80"/>
            </a:solidFill>
          </a:ln>
        </p:spPr>
        <p:txBody>
          <a:bodyPr wrap="square" lIns="73152" tIns="73152" rIns="73152" bIns="73152" anchor="ctr">
            <a:noAutofit/>
          </a:bodyPr>
          <a:lstStyle/>
          <a:p>
            <a:pPr algn="ctr" marL="0" indent="0">
              <a:spcBef>
                <a:spcPts val="0"/>
              </a:spcBef>
              <a:spcAft>
                <a:spcPts val="200"/>
              </a:spcAft>
              <a:buNone/>
            </a:pPr>
            <a:r>
              <a:rPr lang="en-US" sz="3200" b="1" dirty="0">
                <a:solidFill>
                  <a:srgbClr val="213C80"/>
                </a:solidFill>
              </a:rPr>
              <a:t>0%</a:t>
            </a:r>
          </a:p>
          <a:p>
            <a:pPr algn="ctr" marL="0" indent="0">
              <a:spcBef>
                <a:spcPts val="0"/>
              </a:spcBef>
              <a:spcAft>
                <a:spcPts val="0"/>
              </a:spcAft>
              <a:buNone/>
            </a:pPr>
            <a:r>
              <a:rPr lang="en-US" sz="1300" dirty="0">
                <a:solidFill>
                  <a:srgbClr val="1F2937"/>
                </a:solidFill>
              </a:rPr>
              <a:t>positive margins (laparoscopic 2%)</a:t>
            </a:r>
          </a:p>
        </p:txBody>
      </p:sp>
      <p:sp>
        <p:nvSpPr>
          <p:cNvPr id="107" name="Stat ≤ LDP"/>
          <p:cNvSpPr txBox="1"/>
          <p:nvPr/>
        </p:nvSpPr>
        <p:spPr>
          <a:xfrm>
            <a:off x="5660136" y="4270248"/>
            <a:ext cx="2304288" cy="1078992"/>
          </a:xfrm>
          <a:prstGeom prst="roundRect">
            <a:avLst>
              <a:gd name="adj" fmla="val 9000"/>
            </a:avLst>
          </a:prstGeom>
          <a:noFill/>
          <a:ln w="12700">
            <a:solidFill>
              <a:srgbClr val="213C80"/>
            </a:solidFill>
          </a:ln>
        </p:spPr>
        <p:txBody>
          <a:bodyPr wrap="square" lIns="73152" tIns="73152" rIns="73152" bIns="73152" anchor="ctr">
            <a:noAutofit/>
          </a:bodyPr>
          <a:lstStyle/>
          <a:p>
            <a:pPr algn="ctr" marL="0" indent="0">
              <a:spcBef>
                <a:spcPts val="0"/>
              </a:spcBef>
              <a:spcAft>
                <a:spcPts val="200"/>
              </a:spcAft>
              <a:buNone/>
            </a:pPr>
            <a:r>
              <a:rPr lang="en-US" sz="3200" b="1" dirty="0">
                <a:solidFill>
                  <a:srgbClr val="213C80"/>
                </a:solidFill>
              </a:rPr>
              <a:t>≤ LDP</a:t>
            </a:r>
          </a:p>
          <a:p>
            <a:pPr algn="ctr" marL="0" indent="0">
              <a:spcBef>
                <a:spcPts val="0"/>
              </a:spcBef>
              <a:spcAft>
                <a:spcPts val="0"/>
              </a:spcAft>
              <a:buNone/>
            </a:pPr>
            <a:r>
              <a:rPr lang="en-US" sz="1300" dirty="0">
                <a:solidFill>
                  <a:srgbClr val="1F2937"/>
                </a:solidFill>
              </a:rPr>
              <a:t>overall cost; well below open surgery</a:t>
            </a:r>
          </a:p>
        </p:txBody>
      </p:sp>
      <p:sp>
        <p:nvSpPr>
          <p:cNvPr id="108" name="Stat +30 min"/>
          <p:cNvSpPr txBox="1"/>
          <p:nvPr/>
        </p:nvSpPr>
        <p:spPr>
          <a:xfrm>
            <a:off x="8147304" y="4270248"/>
            <a:ext cx="2304288" cy="1078992"/>
          </a:xfrm>
          <a:prstGeom prst="roundRect">
            <a:avLst>
              <a:gd name="adj" fmla="val 9000"/>
            </a:avLst>
          </a:prstGeom>
          <a:noFill/>
          <a:ln w="12700">
            <a:solidFill>
              <a:srgbClr val="BB890B"/>
            </a:solidFill>
          </a:ln>
        </p:spPr>
        <p:txBody>
          <a:bodyPr wrap="square" lIns="73152" tIns="73152" rIns="73152" bIns="73152" anchor="ctr">
            <a:noAutofit/>
          </a:bodyPr>
          <a:lstStyle/>
          <a:p>
            <a:pPr algn="ctr" marL="0" indent="0">
              <a:spcBef>
                <a:spcPts val="0"/>
              </a:spcBef>
              <a:spcAft>
                <a:spcPts val="200"/>
              </a:spcAft>
              <a:buNone/>
            </a:pPr>
            <a:r>
              <a:rPr lang="en-US" sz="3200" b="1" dirty="0">
                <a:solidFill>
                  <a:srgbClr val="BB890B"/>
                </a:solidFill>
              </a:rPr>
              <a:t>+30 min</a:t>
            </a:r>
          </a:p>
          <a:p>
            <a:pPr algn="ctr" marL="0" indent="0">
              <a:spcBef>
                <a:spcPts val="0"/>
              </a:spcBef>
              <a:spcAft>
                <a:spcPts val="0"/>
              </a:spcAft>
              <a:buNone/>
            </a:pPr>
            <a:r>
              <a:rPr lang="en-US" sz="1300" dirty="0">
                <a:solidFill>
                  <a:srgbClr val="1F2937"/>
                </a:solidFill>
              </a:rPr>
              <a:t>operating time vs laparoscopic</a:t>
            </a:r>
          </a:p>
        </p:txBody>
      </p:sp>
      <p:sp>
        <p:nvSpPr>
          <p:cNvPr id="109" name="Section 1 title bar"/>
          <p:cNvSpPr txBox="1"/>
          <p:nvPr/>
        </p:nvSpPr>
        <p:spPr>
          <a:xfrm>
            <a:off x="685800" y="5568696"/>
            <a:ext cx="4677156"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10" name="Section 1 number"/>
          <p:cNvSpPr txBox="1"/>
          <p:nvPr/>
        </p:nvSpPr>
        <p:spPr>
          <a:xfrm>
            <a:off x="777240" y="5632704"/>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01</a:t>
            </a:r>
          </a:p>
        </p:txBody>
      </p:sp>
      <p:sp>
        <p:nvSpPr>
          <p:cNvPr id="111" name="Section 1 title"/>
          <p:cNvSpPr txBox="1"/>
          <p:nvPr/>
        </p:nvSpPr>
        <p:spPr>
          <a:xfrm>
            <a:off x="1289304" y="5568696"/>
            <a:ext cx="3982212"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BACKGROUND &amp; AIM</a:t>
            </a:r>
          </a:p>
        </p:txBody>
      </p:sp>
      <p:sp>
        <p:nvSpPr>
          <p:cNvPr id="112" name="Background"/>
          <p:cNvSpPr txBox="1"/>
          <p:nvPr/>
        </p:nvSpPr>
        <p:spPr>
          <a:xfrm>
            <a:off x="685800" y="6172200"/>
            <a:ext cx="4677156" cy="1005840"/>
          </a:xfrm>
          <a:prstGeom prst="rect">
            <a:avLst/>
          </a:prstGeom>
          <a:noFill/>
          <a:ln>
            <a:noFill/>
          </a:ln>
        </p:spPr>
        <p:txBody>
          <a:bodyPr wrap="square" lIns="0" tIns="0" rIns="0" bIns="0" anchor="t">
            <a:noAutofit/>
          </a:bodyPr>
          <a:lstStyle/>
          <a:p>
            <a:pPr marL="155448" indent="-155448">
              <a:spcBef>
                <a:spcPts val="0"/>
              </a:spcBef>
              <a:spcAft>
                <a:spcPts val="400"/>
              </a:spcAft>
              <a:buClr>
                <a:srgbClr val="213C80"/>
              </a:buClr>
              <a:buFont typeface="Arial"/>
              <a:buChar char="•"/>
            </a:pPr>
            <a:r>
              <a:rPr lang="en-US" sz="1400" dirty="0"/>
              <a:t>Open (ODP) → laparoscopic (LDP) → robotic (RDP)</a:t>
            </a:r>
          </a:p>
          <a:p>
            <a:pPr marL="155448" indent="-155448">
              <a:spcBef>
                <a:spcPts val="0"/>
              </a:spcBef>
              <a:spcAft>
                <a:spcPts val="400"/>
              </a:spcAft>
              <a:buClr>
                <a:srgbClr val="213C80"/>
              </a:buClr>
              <a:buFont typeface="Arial"/>
              <a:buChar char="•"/>
            </a:pPr>
            <a:r>
              <a:rPr lang="en-US" sz="1400" dirty="0"/>
              <a:t>LDP is limited by dexterity and visualisation</a:t>
            </a:r>
          </a:p>
          <a:p>
            <a:pPr marL="155448" indent="-155448">
              <a:spcBef>
                <a:spcPts val="0"/>
              </a:spcBef>
              <a:spcAft>
                <a:spcPts val="0"/>
              </a:spcAft>
              <a:buClr>
                <a:srgbClr val="213C80"/>
              </a:buClr>
              <a:buFont typeface="Arial"/>
              <a:buChar char="•"/>
            </a:pPr>
            <a:r>
              <a:rPr lang="en-US" sz="1400" dirty="0"/>
              <a:t>Whether RDP improves outcomes is debated</a:t>
            </a:r>
          </a:p>
        </p:txBody>
      </p:sp>
      <p:sp>
        <p:nvSpPr>
          <p:cNvPr id="113" name="Aim"/>
          <p:cNvSpPr txBox="1"/>
          <p:nvPr/>
        </p:nvSpPr>
        <p:spPr>
          <a:xfrm>
            <a:off x="685800" y="7251192"/>
            <a:ext cx="4677156" cy="877824"/>
          </a:xfrm>
          <a:prstGeom prst="roundRect">
            <a:avLst>
              <a:gd name="adj" fmla="val 12000"/>
            </a:avLst>
          </a:prstGeom>
          <a:solidFill>
            <a:srgbClr val="EEF1F8"/>
          </a:solidFill>
          <a:ln>
            <a:noFill/>
          </a:ln>
        </p:spPr>
        <p:txBody>
          <a:bodyPr wrap="square" lIns="109728" tIns="109728" rIns="109728" bIns="109728" anchor="ctr">
            <a:noAutofit/>
          </a:bodyPr>
          <a:lstStyle/>
          <a:p>
            <a:pPr marL="0" indent="0">
              <a:spcBef>
                <a:spcPts val="0"/>
              </a:spcBef>
              <a:spcAft>
                <a:spcPts val="0"/>
              </a:spcAft>
              <a:buNone/>
            </a:pPr>
            <a:r>
              <a:rPr lang="en-US" sz="1400" b="1" dirty="0">
                <a:solidFill>
                  <a:srgbClr val="BB890B"/>
                </a:solidFill>
              </a:rPr>
              <a:t xml:space="preserve">AIM  </a:t>
            </a:r>
            <a:r>
              <a:rPr lang="en-US" sz="1400" dirty="0"/>
              <a:t>Compare RDP with ODP and LDP: technique, outcomes, cost, challenges</a:t>
            </a:r>
          </a:p>
        </p:txBody>
      </p:sp>
      <p:sp>
        <p:nvSpPr>
          <p:cNvPr id="114" name="Section 2 title bar"/>
          <p:cNvSpPr txBox="1"/>
          <p:nvPr/>
        </p:nvSpPr>
        <p:spPr>
          <a:xfrm>
            <a:off x="5774436" y="5568696"/>
            <a:ext cx="4677156"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15" name="Section 2 number"/>
          <p:cNvSpPr txBox="1"/>
          <p:nvPr/>
        </p:nvSpPr>
        <p:spPr>
          <a:xfrm>
            <a:off x="5865876" y="5632704"/>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02</a:t>
            </a:r>
          </a:p>
        </p:txBody>
      </p:sp>
      <p:sp>
        <p:nvSpPr>
          <p:cNvPr id="116" name="Section 2 title"/>
          <p:cNvSpPr txBox="1"/>
          <p:nvPr/>
        </p:nvSpPr>
        <p:spPr>
          <a:xfrm>
            <a:off x="6377940" y="5568696"/>
            <a:ext cx="3982212"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WHY ROBOTIC?</a:t>
            </a:r>
          </a:p>
        </p:txBody>
      </p:sp>
      <p:sp>
        <p:nvSpPr>
          <p:cNvPr id="117" name="Advantage circle 3D magnified"/>
          <p:cNvSpPr txBox="1"/>
          <p:nvPr/>
        </p:nvSpPr>
        <p:spPr>
          <a:xfrm>
            <a:off x="5977318" y="6217920"/>
            <a:ext cx="694944" cy="694944"/>
          </a:xfrm>
          <a:prstGeom prst="ellipse">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18" name="Icon 3D magnified" descr="3D magnified vision"/>
          <p:cNvPicPr>
            <a:picLocks noChangeAspect="1"/>
          </p:cNvPicPr>
          <p:nvPr/>
        </p:nvPicPr>
        <p:blipFill>
          <a:blip r:embed="rIdImgFaEye"/>
          <a:stretch>
            <a:fillRect/>
          </a:stretch>
        </p:blipFill>
        <p:spPr>
          <a:xfrm>
            <a:off x="6132766" y="6409944"/>
            <a:ext cx="384048" cy="384048"/>
          </a:xfrm>
          <a:prstGeom prst="rect">
            <a:avLst/>
          </a:prstGeom>
        </p:spPr>
      </p:pic>
      <p:sp>
        <p:nvSpPr>
          <p:cNvPr id="119" name="Advantage 3D magnified"/>
          <p:cNvSpPr txBox="1"/>
          <p:nvPr/>
        </p:nvSpPr>
        <p:spPr>
          <a:xfrm>
            <a:off x="5701284" y="6995160"/>
            <a:ext cx="1247013" cy="566928"/>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300" b="1" dirty="0">
                <a:solidFill>
                  <a:srgbClr val="213C80"/>
                </a:solidFill>
              </a:rPr>
              <a:t>3D magnified</a:t>
            </a:r>
          </a:p>
          <a:p>
            <a:pPr algn="ctr" marL="0" indent="0">
              <a:spcBef>
                <a:spcPts val="0"/>
              </a:spcBef>
              <a:spcAft>
                <a:spcPts val="0"/>
              </a:spcAft>
              <a:buNone/>
            </a:pPr>
            <a:r>
              <a:rPr lang="en-US" sz="1300" dirty="0">
                <a:solidFill>
                  <a:srgbClr val="1F2937"/>
                </a:solidFill>
              </a:rPr>
              <a:t>vision</a:t>
            </a:r>
          </a:p>
        </p:txBody>
      </p:sp>
      <p:sp>
        <p:nvSpPr>
          <p:cNvPr id="120" name="Advantage circle Tremor"/>
          <p:cNvSpPr txBox="1"/>
          <p:nvPr/>
        </p:nvSpPr>
        <p:spPr>
          <a:xfrm>
            <a:off x="7169468" y="6217920"/>
            <a:ext cx="694944" cy="694944"/>
          </a:xfrm>
          <a:prstGeom prst="ellipse">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21" name="Icon Tremor" descr="Tremor filtration"/>
          <p:cNvPicPr>
            <a:picLocks noChangeAspect="1"/>
          </p:cNvPicPr>
          <p:nvPr/>
        </p:nvPicPr>
        <p:blipFill>
          <a:blip r:embed="rIdImgFaHandDots"/>
          <a:stretch>
            <a:fillRect/>
          </a:stretch>
        </p:blipFill>
        <p:spPr>
          <a:xfrm>
            <a:off x="7324915" y="6409944"/>
            <a:ext cx="384048" cy="384048"/>
          </a:xfrm>
          <a:prstGeom prst="rect">
            <a:avLst/>
          </a:prstGeom>
        </p:spPr>
      </p:pic>
      <p:sp>
        <p:nvSpPr>
          <p:cNvPr id="122" name="Advantage Tremor"/>
          <p:cNvSpPr txBox="1"/>
          <p:nvPr/>
        </p:nvSpPr>
        <p:spPr>
          <a:xfrm>
            <a:off x="6893433" y="6995160"/>
            <a:ext cx="1247013" cy="566928"/>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300" b="1" dirty="0">
                <a:solidFill>
                  <a:srgbClr val="213C80"/>
                </a:solidFill>
              </a:rPr>
              <a:t>Tremor</a:t>
            </a:r>
          </a:p>
          <a:p>
            <a:pPr algn="ctr" marL="0" indent="0">
              <a:spcBef>
                <a:spcPts val="0"/>
              </a:spcBef>
              <a:spcAft>
                <a:spcPts val="0"/>
              </a:spcAft>
              <a:buNone/>
            </a:pPr>
            <a:r>
              <a:rPr lang="en-US" sz="1300" dirty="0">
                <a:solidFill>
                  <a:srgbClr val="1F2937"/>
                </a:solidFill>
              </a:rPr>
              <a:t>filtration</a:t>
            </a:r>
          </a:p>
        </p:txBody>
      </p:sp>
      <p:sp>
        <p:nvSpPr>
          <p:cNvPr id="123" name="Advantage circle Motion"/>
          <p:cNvSpPr txBox="1"/>
          <p:nvPr/>
        </p:nvSpPr>
        <p:spPr>
          <a:xfrm>
            <a:off x="8361616" y="6217920"/>
            <a:ext cx="694944" cy="694944"/>
          </a:xfrm>
          <a:prstGeom prst="ellipse">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24" name="Icon Motion" descr="Motion scaling"/>
          <p:cNvPicPr>
            <a:picLocks noChangeAspect="1"/>
          </p:cNvPicPr>
          <p:nvPr/>
        </p:nvPicPr>
        <p:blipFill>
          <a:blip r:embed="rIdImgFaMaximize"/>
          <a:stretch>
            <a:fillRect/>
          </a:stretch>
        </p:blipFill>
        <p:spPr>
          <a:xfrm>
            <a:off x="8517064" y="6409944"/>
            <a:ext cx="384048" cy="384048"/>
          </a:xfrm>
          <a:prstGeom prst="rect">
            <a:avLst/>
          </a:prstGeom>
        </p:spPr>
      </p:pic>
      <p:sp>
        <p:nvSpPr>
          <p:cNvPr id="125" name="Advantage Motion"/>
          <p:cNvSpPr txBox="1"/>
          <p:nvPr/>
        </p:nvSpPr>
        <p:spPr>
          <a:xfrm>
            <a:off x="8085582" y="6995160"/>
            <a:ext cx="1247013" cy="566928"/>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300" b="1" dirty="0">
                <a:solidFill>
                  <a:srgbClr val="213C80"/>
                </a:solidFill>
              </a:rPr>
              <a:t>Motion</a:t>
            </a:r>
          </a:p>
          <a:p>
            <a:pPr algn="ctr" marL="0" indent="0">
              <a:spcBef>
                <a:spcPts val="0"/>
              </a:spcBef>
              <a:spcAft>
                <a:spcPts val="0"/>
              </a:spcAft>
              <a:buNone/>
            </a:pPr>
            <a:r>
              <a:rPr lang="en-US" sz="1300" dirty="0">
                <a:solidFill>
                  <a:srgbClr val="1F2937"/>
                </a:solidFill>
              </a:rPr>
              <a:t>scaling</a:t>
            </a:r>
          </a:p>
        </p:txBody>
      </p:sp>
      <p:sp>
        <p:nvSpPr>
          <p:cNvPr id="126" name="Advantage circle Wristed"/>
          <p:cNvSpPr txBox="1"/>
          <p:nvPr/>
        </p:nvSpPr>
        <p:spPr>
          <a:xfrm>
            <a:off x="9553766" y="6217920"/>
            <a:ext cx="694944" cy="694944"/>
          </a:xfrm>
          <a:prstGeom prst="ellipse">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27" name="Icon Wristed" descr="Wristed instruments"/>
          <p:cNvPicPr>
            <a:picLocks noChangeAspect="1"/>
          </p:cNvPicPr>
          <p:nvPr/>
        </p:nvPicPr>
        <p:blipFill>
          <a:blip r:embed="rIdImgFaRobot"/>
          <a:stretch>
            <a:fillRect/>
          </a:stretch>
        </p:blipFill>
        <p:spPr>
          <a:xfrm>
            <a:off x="9709214" y="6409944"/>
            <a:ext cx="384048" cy="384048"/>
          </a:xfrm>
          <a:prstGeom prst="rect">
            <a:avLst/>
          </a:prstGeom>
        </p:spPr>
      </p:pic>
      <p:sp>
        <p:nvSpPr>
          <p:cNvPr id="128" name="Advantage Wristed"/>
          <p:cNvSpPr txBox="1"/>
          <p:nvPr/>
        </p:nvSpPr>
        <p:spPr>
          <a:xfrm>
            <a:off x="9277731" y="6995160"/>
            <a:ext cx="1247013" cy="566928"/>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300" b="1" dirty="0">
                <a:solidFill>
                  <a:srgbClr val="213C80"/>
                </a:solidFill>
              </a:rPr>
              <a:t>Wristed</a:t>
            </a:r>
          </a:p>
          <a:p>
            <a:pPr algn="ctr" marL="0" indent="0">
              <a:spcBef>
                <a:spcPts val="0"/>
              </a:spcBef>
              <a:spcAft>
                <a:spcPts val="0"/>
              </a:spcAft>
              <a:buNone/>
            </a:pPr>
            <a:r>
              <a:rPr lang="en-US" sz="1300" dirty="0">
                <a:solidFill>
                  <a:srgbClr val="1F2937"/>
                </a:solidFill>
              </a:rPr>
              <a:t>instruments</a:t>
            </a:r>
          </a:p>
        </p:txBody>
      </p:sp>
      <p:sp>
        <p:nvSpPr>
          <p:cNvPr id="129" name="Platforms note"/>
          <p:cNvSpPr txBox="1"/>
          <p:nvPr/>
        </p:nvSpPr>
        <p:spPr>
          <a:xfrm>
            <a:off x="5774436" y="7616952"/>
            <a:ext cx="4677156" cy="548640"/>
          </a:xfrm>
          <a:prstGeom prst="rect">
            <a:avLst/>
          </a:prstGeom>
          <a:noFill/>
          <a:ln>
            <a:noFill/>
          </a:ln>
        </p:spPr>
        <p:txBody>
          <a:bodyPr wrap="square" lIns="0" tIns="0" rIns="0" bIns="0" anchor="t">
            <a:noAutofit/>
          </a:bodyPr>
          <a:lstStyle/>
          <a:p>
            <a:pPr marL="0" indent="0">
              <a:spcBef>
                <a:spcPts val="0"/>
              </a:spcBef>
              <a:spcAft>
                <a:spcPts val="0"/>
              </a:spcAft>
              <a:buNone/>
            </a:pPr>
            <a:r>
              <a:rPr lang="en-US" sz="1300" b="1" dirty="0">
                <a:solidFill>
                  <a:srgbClr val="213C80"/>
                </a:solidFill>
              </a:rPr>
              <a:t xml:space="preserve">Platforms: </a:t>
            </a:r>
            <a:r>
              <a:rPr lang="en-US" sz="1300" dirty="0">
                <a:solidFill>
                  <a:srgbClr val="5B6472"/>
                </a:solidFill>
              </a:rPr>
              <a:t>evidence is mostly da Vinci; Versius and hinotori™ have only case reports</a:t>
            </a:r>
          </a:p>
        </p:txBody>
      </p:sp>
      <p:sp>
        <p:nvSpPr>
          <p:cNvPr id="130" name="Section 3 title bar"/>
          <p:cNvSpPr txBox="1"/>
          <p:nvPr/>
        </p:nvSpPr>
        <p:spPr>
          <a:xfrm>
            <a:off x="685800" y="8385048"/>
            <a:ext cx="9765792"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31" name="Section 3 number"/>
          <p:cNvSpPr txBox="1"/>
          <p:nvPr/>
        </p:nvSpPr>
        <p:spPr>
          <a:xfrm>
            <a:off x="777240" y="8449056"/>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03</a:t>
            </a:r>
          </a:p>
        </p:txBody>
      </p:sp>
      <p:sp>
        <p:nvSpPr>
          <p:cNvPr id="132" name="Section 3 title"/>
          <p:cNvSpPr txBox="1"/>
          <p:nvPr/>
        </p:nvSpPr>
        <p:spPr>
          <a:xfrm>
            <a:off x="1289304" y="8385048"/>
            <a:ext cx="9070848"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OPERATIVE TECHNIQUE</a:t>
            </a:r>
          </a:p>
        </p:txBody>
      </p:sp>
      <p:sp>
        <p:nvSpPr>
          <p:cNvPr id="133" name="Figure frame"/>
          <p:cNvSpPr txBox="1"/>
          <p:nvPr/>
        </p:nvSpPr>
        <p:spPr>
          <a:xfrm>
            <a:off x="685800" y="8988552"/>
            <a:ext cx="1627632" cy="1798974"/>
          </a:xfrm>
          <a:prstGeom prst="roundRect">
            <a:avLst>
              <a:gd name="adj" fmla="val 5000"/>
            </a:avLst>
          </a:prstGeom>
          <a:noFill/>
          <a:ln w="12700">
            <a:solidFill>
              <a:srgbClr val="CFD6E4"/>
            </a:solidFill>
          </a:ln>
        </p:spPr>
        <p:txBody>
          <a:bodyPr wrap="square" lIns="0" tIns="0" rIns="0" bIns="0" anchor="t">
            <a:noAutofit/>
          </a:bodyPr>
          <a:lstStyle/>
          <a:p>
            <a:pPr marL="0" indent="0">
              <a:spcBef>
                <a:spcPts val="0"/>
              </a:spcBef>
              <a:spcAft>
                <a:spcPts val="0"/>
              </a:spcAft>
              <a:buNone/>
            </a:pPr>
            <a:r>
              <a:rPr lang="en-US" dirty="0"/>
              <a:t/>
            </a:r>
          </a:p>
        </p:txBody>
      </p:sp>
      <p:pic>
        <p:nvPicPr>
          <p:cNvPr id="134" name="Figure 1" descr="Fig. 1 Port placement for robotic distal pancreatectomy"/>
          <p:cNvPicPr>
            <a:picLocks noChangeAspect="1"/>
          </p:cNvPicPr>
          <p:nvPr/>
        </p:nvPicPr>
        <p:blipFill>
          <a:blip r:embed="rIdImgFig"/>
          <a:stretch>
            <a:fillRect/>
          </a:stretch>
        </p:blipFill>
        <p:spPr>
          <a:xfrm>
            <a:off x="758952" y="9061704"/>
            <a:ext cx="1481328" cy="1652670"/>
          </a:xfrm>
          <a:prstGeom prst="rect">
            <a:avLst/>
          </a:prstGeom>
        </p:spPr>
      </p:pic>
      <p:sp>
        <p:nvSpPr>
          <p:cNvPr id="135" name="Fig caption"/>
          <p:cNvSpPr txBox="1"/>
          <p:nvPr/>
        </p:nvSpPr>
        <p:spPr>
          <a:xfrm>
            <a:off x="685800" y="10824102"/>
            <a:ext cx="1627632" cy="274320"/>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200" b="1" dirty="0"/>
              <a:t xml:space="preserve">Fig. 1 </a:t>
            </a:r>
            <a:r>
              <a:rPr lang="en-US" sz="1200" dirty="0">
                <a:solidFill>
                  <a:srgbClr val="5B6472"/>
                </a:solidFill>
              </a:rPr>
              <a:t>Port placement</a:t>
            </a:r>
          </a:p>
        </p:txBody>
      </p:sp>
      <p:sp>
        <p:nvSpPr>
          <p:cNvPr id="136" name="Step 1"/>
          <p:cNvSpPr txBox="1"/>
          <p:nvPr/>
        </p:nvSpPr>
        <p:spPr>
          <a:xfrm>
            <a:off x="2624328" y="9025128"/>
            <a:ext cx="384048" cy="384048"/>
          </a:xfrm>
          <a:prstGeom prst="ellipse">
            <a:avLst/>
          </a:prstGeom>
          <a:solidFill>
            <a:srgbClr val="213C80"/>
          </a:solidFill>
          <a:ln>
            <a:noFill/>
          </a:ln>
        </p:spPr>
        <p:txBody>
          <a:bodyPr wrap="square" lIns="0" tIns="0" rIns="0" bIns="0" anchor="ctr">
            <a:noAutofit/>
          </a:bodyPr>
          <a:lstStyle/>
          <a:p>
            <a:pPr algn="ctr" marL="0" indent="0">
              <a:spcBef>
                <a:spcPts val="0"/>
              </a:spcBef>
              <a:spcAft>
                <a:spcPts val="0"/>
              </a:spcAft>
              <a:buNone/>
            </a:pPr>
            <a:r>
              <a:rPr lang="en-US" sz="1300" b="1" dirty="0">
                <a:solidFill>
                  <a:srgbClr val="FFFFFF"/>
                </a:solidFill>
              </a:rPr>
              <a:t>1</a:t>
            </a:r>
          </a:p>
        </p:txBody>
      </p:sp>
      <p:sp>
        <p:nvSpPr>
          <p:cNvPr id="137" name="Step 1 text"/>
          <p:cNvSpPr txBox="1"/>
          <p:nvPr/>
        </p:nvSpPr>
        <p:spPr>
          <a:xfrm>
            <a:off x="3081528" y="8988552"/>
            <a:ext cx="3319272" cy="713232"/>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Position</a:t>
            </a:r>
          </a:p>
          <a:p>
            <a:pPr marL="0" indent="0">
              <a:spcBef>
                <a:spcPts val="0"/>
              </a:spcBef>
              <a:spcAft>
                <a:spcPts val="0"/>
              </a:spcAft>
              <a:buNone/>
            </a:pPr>
            <a:r>
              <a:rPr lang="en-US" sz="1350" dirty="0">
                <a:solidFill>
                  <a:srgbClr val="1F2937"/>
                </a:solidFill>
              </a:rPr>
              <a:t>Supine; reverse Trendelenburg; dock</a:t>
            </a:r>
          </a:p>
        </p:txBody>
      </p:sp>
      <p:sp>
        <p:nvSpPr>
          <p:cNvPr id="138" name="Step 2"/>
          <p:cNvSpPr txBox="1"/>
          <p:nvPr/>
        </p:nvSpPr>
        <p:spPr>
          <a:xfrm>
            <a:off x="2624328" y="9720072"/>
            <a:ext cx="384048" cy="384048"/>
          </a:xfrm>
          <a:prstGeom prst="ellipse">
            <a:avLst/>
          </a:prstGeom>
          <a:solidFill>
            <a:srgbClr val="213C80"/>
          </a:solidFill>
          <a:ln>
            <a:noFill/>
          </a:ln>
        </p:spPr>
        <p:txBody>
          <a:bodyPr wrap="square" lIns="0" tIns="0" rIns="0" bIns="0" anchor="ctr">
            <a:noAutofit/>
          </a:bodyPr>
          <a:lstStyle/>
          <a:p>
            <a:pPr algn="ctr" marL="0" indent="0">
              <a:spcBef>
                <a:spcPts val="0"/>
              </a:spcBef>
              <a:spcAft>
                <a:spcPts val="0"/>
              </a:spcAft>
              <a:buNone/>
            </a:pPr>
            <a:r>
              <a:rPr lang="en-US" sz="1300" b="1" dirty="0">
                <a:solidFill>
                  <a:srgbClr val="FFFFFF"/>
                </a:solidFill>
              </a:rPr>
              <a:t>2</a:t>
            </a:r>
          </a:p>
        </p:txBody>
      </p:sp>
      <p:sp>
        <p:nvSpPr>
          <p:cNvPr id="139" name="Step 2 text"/>
          <p:cNvSpPr txBox="1"/>
          <p:nvPr/>
        </p:nvSpPr>
        <p:spPr>
          <a:xfrm>
            <a:off x="3081528" y="9683496"/>
            <a:ext cx="3319272" cy="713232"/>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Expose</a:t>
            </a:r>
          </a:p>
          <a:p>
            <a:pPr marL="0" indent="0">
              <a:spcBef>
                <a:spcPts val="0"/>
              </a:spcBef>
              <a:spcAft>
                <a:spcPts val="0"/>
              </a:spcAft>
              <a:buNone/>
            </a:pPr>
            <a:r>
              <a:rPr lang="en-US" sz="1350" dirty="0">
                <a:solidFill>
                  <a:srgbClr val="1F2937"/>
                </a:solidFill>
              </a:rPr>
              <a:t>Enter the lesser sac</a:t>
            </a:r>
          </a:p>
        </p:txBody>
      </p:sp>
      <p:sp>
        <p:nvSpPr>
          <p:cNvPr id="140" name="Step 3"/>
          <p:cNvSpPr txBox="1"/>
          <p:nvPr/>
        </p:nvSpPr>
        <p:spPr>
          <a:xfrm>
            <a:off x="2624328" y="10415016"/>
            <a:ext cx="384048" cy="384048"/>
          </a:xfrm>
          <a:prstGeom prst="ellipse">
            <a:avLst/>
          </a:prstGeom>
          <a:solidFill>
            <a:srgbClr val="213C80"/>
          </a:solidFill>
          <a:ln>
            <a:noFill/>
          </a:ln>
        </p:spPr>
        <p:txBody>
          <a:bodyPr wrap="square" lIns="0" tIns="0" rIns="0" bIns="0" anchor="ctr">
            <a:noAutofit/>
          </a:bodyPr>
          <a:lstStyle/>
          <a:p>
            <a:pPr algn="ctr" marL="0" indent="0">
              <a:spcBef>
                <a:spcPts val="0"/>
              </a:spcBef>
              <a:spcAft>
                <a:spcPts val="0"/>
              </a:spcAft>
              <a:buNone/>
            </a:pPr>
            <a:r>
              <a:rPr lang="en-US" sz="1300" b="1" dirty="0">
                <a:solidFill>
                  <a:srgbClr val="FFFFFF"/>
                </a:solidFill>
              </a:rPr>
              <a:t>3</a:t>
            </a:r>
          </a:p>
        </p:txBody>
      </p:sp>
      <p:sp>
        <p:nvSpPr>
          <p:cNvPr id="141" name="Step 3 text"/>
          <p:cNvSpPr txBox="1"/>
          <p:nvPr/>
        </p:nvSpPr>
        <p:spPr>
          <a:xfrm>
            <a:off x="3081528" y="10378440"/>
            <a:ext cx="3319272" cy="713232"/>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Control</a:t>
            </a:r>
          </a:p>
          <a:p>
            <a:pPr marL="0" indent="0">
              <a:spcBef>
                <a:spcPts val="0"/>
              </a:spcBef>
              <a:spcAft>
                <a:spcPts val="0"/>
              </a:spcAft>
              <a:buNone/>
            </a:pPr>
            <a:r>
              <a:rPr lang="en-US" sz="1350" dirty="0">
                <a:solidFill>
                  <a:srgbClr val="1F2937"/>
                </a:solidFill>
              </a:rPr>
              <a:t>Splenic artery and vein</a:t>
            </a:r>
          </a:p>
        </p:txBody>
      </p:sp>
      <p:sp>
        <p:nvSpPr>
          <p:cNvPr id="142" name="Step 4"/>
          <p:cNvSpPr txBox="1"/>
          <p:nvPr/>
        </p:nvSpPr>
        <p:spPr>
          <a:xfrm>
            <a:off x="6675120" y="9025128"/>
            <a:ext cx="384048" cy="384048"/>
          </a:xfrm>
          <a:prstGeom prst="ellipse">
            <a:avLst/>
          </a:prstGeom>
          <a:solidFill>
            <a:srgbClr val="213C80"/>
          </a:solidFill>
          <a:ln>
            <a:noFill/>
          </a:ln>
        </p:spPr>
        <p:txBody>
          <a:bodyPr wrap="square" lIns="0" tIns="0" rIns="0" bIns="0" anchor="ctr">
            <a:noAutofit/>
          </a:bodyPr>
          <a:lstStyle/>
          <a:p>
            <a:pPr algn="ctr" marL="0" indent="0">
              <a:spcBef>
                <a:spcPts val="0"/>
              </a:spcBef>
              <a:spcAft>
                <a:spcPts val="0"/>
              </a:spcAft>
              <a:buNone/>
            </a:pPr>
            <a:r>
              <a:rPr lang="en-US" sz="1300" b="1" dirty="0">
                <a:solidFill>
                  <a:srgbClr val="FFFFFF"/>
                </a:solidFill>
              </a:rPr>
              <a:t>4</a:t>
            </a:r>
          </a:p>
        </p:txBody>
      </p:sp>
      <p:sp>
        <p:nvSpPr>
          <p:cNvPr id="143" name="Step 4 text"/>
          <p:cNvSpPr txBox="1"/>
          <p:nvPr/>
        </p:nvSpPr>
        <p:spPr>
          <a:xfrm>
            <a:off x="7132320" y="8988552"/>
            <a:ext cx="3319272" cy="713232"/>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Divide</a:t>
            </a:r>
          </a:p>
          <a:p>
            <a:pPr marL="0" indent="0">
              <a:spcBef>
                <a:spcPts val="0"/>
              </a:spcBef>
              <a:spcAft>
                <a:spcPts val="0"/>
              </a:spcAft>
              <a:buNone/>
            </a:pPr>
            <a:r>
              <a:rPr lang="en-US" sz="1350" dirty="0">
                <a:solidFill>
                  <a:srgbClr val="1F2937"/>
                </a:solidFill>
              </a:rPr>
              <a:t>Pancreas with clear margin</a:t>
            </a:r>
          </a:p>
        </p:txBody>
      </p:sp>
      <p:sp>
        <p:nvSpPr>
          <p:cNvPr id="144" name="Step 5"/>
          <p:cNvSpPr txBox="1"/>
          <p:nvPr/>
        </p:nvSpPr>
        <p:spPr>
          <a:xfrm>
            <a:off x="6675120" y="9720072"/>
            <a:ext cx="384048" cy="384048"/>
          </a:xfrm>
          <a:prstGeom prst="ellipse">
            <a:avLst/>
          </a:prstGeom>
          <a:solidFill>
            <a:srgbClr val="213C80"/>
          </a:solidFill>
          <a:ln>
            <a:noFill/>
          </a:ln>
        </p:spPr>
        <p:txBody>
          <a:bodyPr wrap="square" lIns="0" tIns="0" rIns="0" bIns="0" anchor="ctr">
            <a:noAutofit/>
          </a:bodyPr>
          <a:lstStyle/>
          <a:p>
            <a:pPr algn="ctr" marL="0" indent="0">
              <a:spcBef>
                <a:spcPts val="0"/>
              </a:spcBef>
              <a:spcAft>
                <a:spcPts val="0"/>
              </a:spcAft>
              <a:buNone/>
            </a:pPr>
            <a:r>
              <a:rPr lang="en-US" sz="1300" b="1" dirty="0">
                <a:solidFill>
                  <a:srgbClr val="FFFFFF"/>
                </a:solidFill>
              </a:rPr>
              <a:t>5</a:t>
            </a:r>
          </a:p>
        </p:txBody>
      </p:sp>
      <p:sp>
        <p:nvSpPr>
          <p:cNvPr id="145" name="Step 5 text"/>
          <p:cNvSpPr txBox="1"/>
          <p:nvPr/>
        </p:nvSpPr>
        <p:spPr>
          <a:xfrm>
            <a:off x="7132320" y="9683496"/>
            <a:ext cx="3319272" cy="713232"/>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Resect</a:t>
            </a:r>
          </a:p>
          <a:p>
            <a:pPr marL="0" indent="0">
              <a:spcBef>
                <a:spcPts val="0"/>
              </a:spcBef>
              <a:spcAft>
                <a:spcPts val="0"/>
              </a:spcAft>
              <a:buNone/>
            </a:pPr>
            <a:r>
              <a:rPr lang="en-US" sz="1350" dirty="0">
                <a:solidFill>
                  <a:srgbClr val="1F2937"/>
                </a:solidFill>
              </a:rPr>
              <a:t>En bloc ± spleen</a:t>
            </a:r>
          </a:p>
        </p:txBody>
      </p:sp>
      <p:sp>
        <p:nvSpPr>
          <p:cNvPr id="146" name="Spleen note"/>
          <p:cNvSpPr txBox="1"/>
          <p:nvPr/>
        </p:nvSpPr>
        <p:spPr>
          <a:xfrm>
            <a:off x="6675120" y="10378440"/>
            <a:ext cx="3776472" cy="640080"/>
          </a:xfrm>
          <a:prstGeom prst="roundRect">
            <a:avLst>
              <a:gd name="adj" fmla="val 12000"/>
            </a:avLst>
          </a:prstGeom>
          <a:solidFill>
            <a:srgbClr val="F7EFD9"/>
          </a:solidFill>
          <a:ln>
            <a:noFill/>
          </a:ln>
        </p:spPr>
        <p:txBody>
          <a:bodyPr wrap="square" lIns="91440" tIns="91440" rIns="91440" bIns="91440" anchor="ctr">
            <a:noAutofit/>
          </a:bodyPr>
          <a:lstStyle/>
          <a:p>
            <a:pPr marL="0" indent="0">
              <a:spcBef>
                <a:spcPts val="0"/>
              </a:spcBef>
              <a:spcAft>
                <a:spcPts val="0"/>
              </a:spcAft>
              <a:buNone/>
            </a:pPr>
            <a:r>
              <a:rPr lang="en-US" sz="1300" b="1" dirty="0">
                <a:solidFill>
                  <a:srgbClr val="213C80"/>
                </a:solidFill>
              </a:rPr>
              <a:t xml:space="preserve">Spleen preserving: </a:t>
            </a:r>
            <a:r>
              <a:rPr lang="en-US" sz="1300" dirty="0"/>
              <a:t>vessel preservation or Warshaw</a:t>
            </a:r>
          </a:p>
        </p:txBody>
      </p:sp>
      <p:sp>
        <p:nvSpPr>
          <p:cNvPr id="147" name="Section 4 title bar"/>
          <p:cNvSpPr txBox="1"/>
          <p:nvPr/>
        </p:nvSpPr>
        <p:spPr>
          <a:xfrm>
            <a:off x="685800" y="11299590"/>
            <a:ext cx="9765792"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48" name="Section 4 number"/>
          <p:cNvSpPr txBox="1"/>
          <p:nvPr/>
        </p:nvSpPr>
        <p:spPr>
          <a:xfrm>
            <a:off x="777240" y="11363598"/>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04</a:t>
            </a:r>
          </a:p>
        </p:txBody>
      </p:sp>
      <p:sp>
        <p:nvSpPr>
          <p:cNvPr id="149" name="Section 4 title"/>
          <p:cNvSpPr txBox="1"/>
          <p:nvPr/>
        </p:nvSpPr>
        <p:spPr>
          <a:xfrm>
            <a:off x="1289304" y="11299590"/>
            <a:ext cx="9070848"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CLINICAL OUTCOMES OF RDP</a:t>
            </a:r>
          </a:p>
        </p:txBody>
      </p:sp>
      <p:graphicFrame>
        <p:nvGraphicFramePr>
          <p:cNvPr id="150" name="Outcomes table"/>
          <p:cNvGraphicFramePr>
            <a:graphicFrameLocks noGrp="1"/>
          </p:cNvGraphicFramePr>
          <p:nvPr/>
        </p:nvGraphicFramePr>
        <p:xfrm>
          <a:off x="685800" y="11903094"/>
          <a:ext cx="9765792" cy="2798064"/>
        </p:xfrm>
        <a:graphic>
          <a:graphicData uri="http://schemas.openxmlformats.org/drawingml/2006/table">
            <a:tbl>
              <a:tblPr firstRow="1" bandRow="1"/>
              <a:tblGrid>
                <a:gridCol w="2377440"/>
                <a:gridCol w="3291840"/>
                <a:gridCol w="4096512"/>
              </a:tblGrid>
              <a:tr h="365760">
                <a:tc>
                  <a:txBody>
                    <a:bodyPr/>
                    <a:lstStyle/>
                    <a:p>
                      <a:pPr marL="0" indent="0">
                        <a:spcBef>
                          <a:spcPts val="0"/>
                        </a:spcBef>
                        <a:spcAft>
                          <a:spcPts val="0"/>
                        </a:spcAft>
                        <a:buNone/>
                      </a:pPr>
                      <a:r>
                        <a:rPr lang="en-US" sz="1350" b="1" dirty="0">
                          <a:solidFill>
                            <a:srgbClr val="FFFFFF"/>
                          </a:solidFill>
                        </a:rPr>
                        <a:t>Outcome</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c>
                  <a:txBody>
                    <a:bodyPr/>
                    <a:lstStyle/>
                    <a:p>
                      <a:pPr marL="0" indent="0">
                        <a:spcBef>
                          <a:spcPts val="0"/>
                        </a:spcBef>
                        <a:spcAft>
                          <a:spcPts val="0"/>
                        </a:spcAft>
                        <a:buNone/>
                      </a:pPr>
                      <a:r>
                        <a:rPr lang="en-US" sz="1350" b="1" dirty="0">
                          <a:solidFill>
                            <a:srgbClr val="FFFFFF"/>
                          </a:solidFill>
                        </a:rPr>
                        <a:t>RDP vs open</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c>
                  <a:txBody>
                    <a:bodyPr/>
                    <a:lstStyle/>
                    <a:p>
                      <a:pPr marL="0" indent="0">
                        <a:spcBef>
                          <a:spcPts val="0"/>
                        </a:spcBef>
                        <a:spcAft>
                          <a:spcPts val="0"/>
                        </a:spcAft>
                        <a:buNone/>
                      </a:pPr>
                      <a:r>
                        <a:rPr lang="en-US" sz="1350" b="1" dirty="0">
                          <a:solidFill>
                            <a:srgbClr val="FFFFFF"/>
                          </a:solidFill>
                        </a:rPr>
                        <a:t>RDP vs laparoscopic</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r>
              <a:tr h="347472">
                <a:tc>
                  <a:txBody>
                    <a:bodyPr/>
                    <a:lstStyle/>
                    <a:p>
                      <a:pPr marL="0" indent="0">
                        <a:spcBef>
                          <a:spcPts val="0"/>
                        </a:spcBef>
                        <a:spcAft>
                          <a:spcPts val="0"/>
                        </a:spcAft>
                        <a:buNone/>
                      </a:pPr>
                      <a:r>
                        <a:rPr lang="en-US" sz="1300" b="1" dirty="0">
                          <a:solidFill>
                            <a:srgbClr val="213C80"/>
                          </a:solidFill>
                        </a:rPr>
                        <a:t>Blood loss</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Lower</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Lower (planned SP)</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r>
              <a:tr h="347472">
                <a:tc>
                  <a:txBody>
                    <a:bodyPr/>
                    <a:lstStyle/>
                    <a:p>
                      <a:pPr marL="0" indent="0">
                        <a:spcBef>
                          <a:spcPts val="0"/>
                        </a:spcBef>
                        <a:spcAft>
                          <a:spcPts val="0"/>
                        </a:spcAft>
                        <a:buNone/>
                      </a:pPr>
                      <a:r>
                        <a:rPr lang="en-US" sz="1300" b="1" dirty="0">
                          <a:solidFill>
                            <a:srgbClr val="213C80"/>
                          </a:solidFill>
                        </a:rPr>
                        <a:t>Complications</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Fewer (fistula, wound)</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c>
                  <a:txBody>
                    <a:bodyPr/>
                    <a:lstStyle/>
                    <a:p>
                      <a:pPr marL="0" indent="0">
                        <a:spcBef>
                          <a:spcPts val="0"/>
                        </a:spcBef>
                        <a:spcAft>
                          <a:spcPts val="0"/>
                        </a:spcAft>
                        <a:buNone/>
                      </a:pPr>
                      <a:r>
                        <a:rPr lang="en-US" sz="1300" b="1" dirty="0">
                          <a:solidFill>
                            <a:srgbClr val="5B6472"/>
                          </a:solidFill>
                        </a:rPr>
                        <a:t xml:space="preserve">= </a:t>
                      </a:r>
                      <a:r>
                        <a:rPr lang="en-US" sz="1300" dirty="0">
                          <a:solidFill>
                            <a:srgbClr val="5B6472"/>
                          </a:solidFill>
                        </a:rPr>
                        <a:t>Similar overall and fistula</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0F3"/>
                    </a:solidFill>
                  </a:tcPr>
                </a:tc>
              </a:tr>
              <a:tr h="347472">
                <a:tc>
                  <a:txBody>
                    <a:bodyPr/>
                    <a:lstStyle/>
                    <a:p>
                      <a:pPr marL="0" indent="0">
                        <a:spcBef>
                          <a:spcPts val="0"/>
                        </a:spcBef>
                        <a:spcAft>
                          <a:spcPts val="0"/>
                        </a:spcAft>
                        <a:buNone/>
                      </a:pPr>
                      <a:r>
                        <a:rPr lang="en-US" sz="1300" b="1" dirty="0">
                          <a:solidFill>
                            <a:srgbClr val="213C80"/>
                          </a:solidFill>
                        </a:rPr>
                        <a:t>Hospital stay</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Shorter</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≈1 day shorter</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r>
              <a:tr h="347472">
                <a:tc>
                  <a:txBody>
                    <a:bodyPr/>
                    <a:lstStyle/>
                    <a:p>
                      <a:pPr marL="0" indent="0">
                        <a:spcBef>
                          <a:spcPts val="0"/>
                        </a:spcBef>
                        <a:spcAft>
                          <a:spcPts val="0"/>
                        </a:spcAft>
                        <a:buNone/>
                      </a:pPr>
                      <a:r>
                        <a:rPr lang="en-US" sz="1300" b="1" dirty="0">
                          <a:solidFill>
                            <a:srgbClr val="213C80"/>
                          </a:solidFill>
                        </a:rPr>
                        <a:t>Conversion to open</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5B6472"/>
                          </a:solidFill>
                        </a:rPr>
                        <a:t/>
                      </a:r>
                      <a:r>
                        <a:rPr lang="en-US" sz="1300" dirty="0">
                          <a:solidFill>
                            <a:srgbClr val="5B6472"/>
                          </a:solidFill>
                        </a:rPr>
                        <a:t>Not applicable</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0F3"/>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Fewer</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r>
              <a:tr h="347472">
                <a:tc>
                  <a:txBody>
                    <a:bodyPr/>
                    <a:lstStyle/>
                    <a:p>
                      <a:pPr marL="0" indent="0">
                        <a:spcBef>
                          <a:spcPts val="0"/>
                        </a:spcBef>
                        <a:spcAft>
                          <a:spcPts val="0"/>
                        </a:spcAft>
                        <a:buNone/>
                      </a:pPr>
                      <a:r>
                        <a:rPr lang="en-US" sz="1300" b="1" dirty="0">
                          <a:solidFill>
                            <a:srgbClr val="213C80"/>
                          </a:solidFill>
                        </a:rPr>
                        <a:t>Spleen preservation</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Higher</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Higher; fewer splenectomies</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r>
              <a:tr h="347472">
                <a:tc>
                  <a:txBody>
                    <a:bodyPr/>
                    <a:lstStyle/>
                    <a:p>
                      <a:pPr marL="0" indent="0">
                        <a:spcBef>
                          <a:spcPts val="0"/>
                        </a:spcBef>
                        <a:spcAft>
                          <a:spcPts val="0"/>
                        </a:spcAft>
                        <a:buNone/>
                      </a:pPr>
                      <a:r>
                        <a:rPr lang="en-US" sz="1300" b="1" dirty="0">
                          <a:solidFill>
                            <a:srgbClr val="213C80"/>
                          </a:solidFill>
                        </a:rPr>
                        <a:t>Oncological</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5B6472"/>
                          </a:solidFill>
                        </a:rPr>
                        <a:t xml:space="preserve">= </a:t>
                      </a:r>
                      <a:r>
                        <a:rPr lang="en-US" sz="1300" dirty="0">
                          <a:solidFill>
                            <a:srgbClr val="5B6472"/>
                          </a:solidFill>
                        </a:rPr>
                        <a:t>Non-inferior R0 and nodes</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0F3"/>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0% vs 2% R1; more lymph nodes</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r>
              <a:tr h="347472">
                <a:tc>
                  <a:txBody>
                    <a:bodyPr/>
                    <a:lstStyle/>
                    <a:p>
                      <a:pPr marL="0" indent="0">
                        <a:spcBef>
                          <a:spcPts val="0"/>
                        </a:spcBef>
                        <a:spcAft>
                          <a:spcPts val="0"/>
                        </a:spcAft>
                        <a:buNone/>
                      </a:pPr>
                      <a:r>
                        <a:rPr lang="en-US" sz="1300" b="1" dirty="0">
                          <a:solidFill>
                            <a:srgbClr val="213C80"/>
                          </a:solidFill>
                        </a:rPr>
                        <a:t>Operative time</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5B6472"/>
                          </a:solidFill>
                        </a:rPr>
                        <a:t xml:space="preserve">= </a:t>
                      </a:r>
                      <a:r>
                        <a:rPr lang="en-US" sz="1300" dirty="0">
                          <a:solidFill>
                            <a:srgbClr val="5B6472"/>
                          </a:solidFill>
                        </a:rPr>
                        <a:t>Conflicting</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0F3"/>
                    </a:solidFill>
                  </a:tcPr>
                </a:tc>
                <a:tc>
                  <a:txBody>
                    <a:bodyPr/>
                    <a:lstStyle/>
                    <a:p>
                      <a:pPr marL="0" indent="0">
                        <a:spcBef>
                          <a:spcPts val="0"/>
                        </a:spcBef>
                        <a:spcAft>
                          <a:spcPts val="0"/>
                        </a:spcAft>
                        <a:buNone/>
                      </a:pPr>
                      <a:r>
                        <a:rPr lang="en-US" sz="1300" b="1" dirty="0">
                          <a:solidFill>
                            <a:srgbClr val="B86410"/>
                          </a:solidFill>
                        </a:rPr>
                        <a:t xml:space="preserve">▲ </a:t>
                      </a:r>
                      <a:r>
                        <a:rPr lang="en-US" sz="1300" b="1" dirty="0">
                          <a:solidFill>
                            <a:srgbClr val="B86410"/>
                          </a:solidFill>
                        </a:rPr>
                        <a:t>≈30 min longer (docking)</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CEFDD"/>
                    </a:solidFill>
                  </a:tcPr>
                </a:tc>
              </a:tr>
            </a:tbl>
          </a:graphicData>
        </a:graphic>
      </p:graphicFrame>
      <p:sp>
        <p:nvSpPr>
          <p:cNvPr id="151" name="Table key"/>
          <p:cNvSpPr txBox="1"/>
          <p:nvPr/>
        </p:nvSpPr>
        <p:spPr>
          <a:xfrm>
            <a:off x="685800" y="14792598"/>
            <a:ext cx="9765792" cy="274320"/>
          </a:xfrm>
          <a:prstGeom prst="rect">
            <a:avLst/>
          </a:prstGeom>
          <a:noFill/>
          <a:ln>
            <a:noFill/>
          </a:ln>
        </p:spPr>
        <p:txBody>
          <a:bodyPr wrap="square" lIns="0" tIns="0" rIns="0" bIns="0" anchor="t">
            <a:noAutofit/>
          </a:bodyPr>
          <a:lstStyle/>
          <a:p>
            <a:pPr marL="0" indent="0">
              <a:spcBef>
                <a:spcPts val="0"/>
              </a:spcBef>
              <a:spcAft>
                <a:spcPts val="0"/>
              </a:spcAft>
              <a:buNone/>
            </a:pPr>
            <a:r>
              <a:rPr lang="en-US" sz="1050" dirty="0">
                <a:solidFill>
                  <a:srgbClr val="2E7D4F"/>
                </a:solidFill>
              </a:rPr>
              <a:t xml:space="preserve">■ </a:t>
            </a:r>
            <a:r>
              <a:rPr lang="en-US" sz="1050" dirty="0">
                <a:solidFill>
                  <a:srgbClr val="5B6472"/>
                </a:solidFill>
              </a:rPr>
              <a:t xml:space="preserve">favours RDP     </a:t>
            </a:r>
            <a:r>
              <a:rPr lang="en-US" sz="1050" dirty="0">
                <a:solidFill>
                  <a:srgbClr val="5B6472"/>
                </a:solidFill>
              </a:rPr>
              <a:t xml:space="preserve">■ </a:t>
            </a:r>
            <a:r>
              <a:rPr lang="en-US" sz="1050" dirty="0">
                <a:solidFill>
                  <a:srgbClr val="5B6472"/>
                </a:solidFill>
              </a:rPr>
              <a:t xml:space="preserve">no clear difference     </a:t>
            </a:r>
            <a:r>
              <a:rPr lang="en-US" sz="1050" dirty="0">
                <a:solidFill>
                  <a:srgbClr val="B86410"/>
                </a:solidFill>
              </a:rPr>
              <a:t xml:space="preserve">■ </a:t>
            </a:r>
            <a:r>
              <a:rPr lang="en-US" sz="1050" dirty="0">
                <a:solidFill>
                  <a:srgbClr val="5B6472"/>
                </a:solidFill>
              </a:rPr>
              <a:t>favours comparator     SP, spleen preservation</a:t>
            </a:r>
          </a:p>
        </p:txBody>
      </p:sp>
      <p:sp>
        <p:nvSpPr>
          <p:cNvPr id="152" name="Section 5 title bar"/>
          <p:cNvSpPr txBox="1"/>
          <p:nvPr/>
        </p:nvSpPr>
        <p:spPr>
          <a:xfrm>
            <a:off x="685800" y="15231510"/>
            <a:ext cx="4677156"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53" name="Section 5 number"/>
          <p:cNvSpPr txBox="1"/>
          <p:nvPr/>
        </p:nvSpPr>
        <p:spPr>
          <a:xfrm>
            <a:off x="777240" y="15295518"/>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05</a:t>
            </a:r>
          </a:p>
        </p:txBody>
      </p:sp>
      <p:sp>
        <p:nvSpPr>
          <p:cNvPr id="154" name="Section 5 title"/>
          <p:cNvSpPr txBox="1"/>
          <p:nvPr/>
        </p:nvSpPr>
        <p:spPr>
          <a:xfrm>
            <a:off x="1289304" y="15231510"/>
            <a:ext cx="3982212"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COST-EFFECTIVENESS</a:t>
            </a:r>
          </a:p>
        </p:txBody>
      </p:sp>
      <p:sp>
        <p:nvSpPr>
          <p:cNvPr id="155" name="Cost chip Operative cost"/>
          <p:cNvSpPr txBox="1"/>
          <p:nvPr/>
        </p:nvSpPr>
        <p:spPr>
          <a:xfrm>
            <a:off x="685800" y="15835014"/>
            <a:ext cx="1498092" cy="841248"/>
          </a:xfrm>
          <a:prstGeom prst="roundRect">
            <a:avLst>
              <a:gd name="adj" fmla="val 12000"/>
            </a:avLst>
          </a:prstGeom>
          <a:solidFill>
            <a:srgbClr val="FCEFDD"/>
          </a:solidFill>
          <a:ln>
            <a:noFill/>
          </a:ln>
        </p:spPr>
        <p:txBody>
          <a:bodyPr wrap="square" lIns="27432" tIns="27432" rIns="27432" bIns="27432" anchor="ctr">
            <a:noAutofit/>
          </a:bodyPr>
          <a:lstStyle/>
          <a:p>
            <a:pPr algn="ctr" marL="0" indent="0">
              <a:spcBef>
                <a:spcPts val="0"/>
              </a:spcBef>
              <a:spcAft>
                <a:spcPts val="100"/>
              </a:spcAft>
              <a:buNone/>
            </a:pPr>
            <a:r>
              <a:rPr lang="en-US" sz="1200" dirty="0">
                <a:solidFill>
                  <a:srgbClr val="5B6472"/>
                </a:solidFill>
              </a:rPr>
              <a:t>Operative cost</a:t>
            </a:r>
          </a:p>
          <a:p>
            <a:pPr algn="ctr" marL="0" indent="0">
              <a:spcBef>
                <a:spcPts val="0"/>
              </a:spcBef>
              <a:spcAft>
                <a:spcPts val="0"/>
              </a:spcAft>
              <a:buNone/>
            </a:pPr>
            <a:r>
              <a:rPr lang="en-US" sz="1300" b="1" dirty="0">
                <a:solidFill>
                  <a:srgbClr val="B86410"/>
                </a:solidFill>
              </a:rPr>
              <a:t>RDP higher</a:t>
            </a:r>
          </a:p>
        </p:txBody>
      </p:sp>
      <p:sp>
        <p:nvSpPr>
          <p:cNvPr id="156" name="Cost chip Overall cost"/>
          <p:cNvSpPr txBox="1"/>
          <p:nvPr/>
        </p:nvSpPr>
        <p:spPr>
          <a:xfrm>
            <a:off x="2275332" y="15835014"/>
            <a:ext cx="1498092" cy="841248"/>
          </a:xfrm>
          <a:prstGeom prst="roundRect">
            <a:avLst>
              <a:gd name="adj" fmla="val 12000"/>
            </a:avLst>
          </a:prstGeom>
          <a:solidFill>
            <a:srgbClr val="E3F2E8"/>
          </a:solidFill>
          <a:ln>
            <a:noFill/>
          </a:ln>
        </p:spPr>
        <p:txBody>
          <a:bodyPr wrap="square" lIns="27432" tIns="27432" rIns="27432" bIns="27432" anchor="ctr">
            <a:noAutofit/>
          </a:bodyPr>
          <a:lstStyle/>
          <a:p>
            <a:pPr algn="ctr" marL="0" indent="0">
              <a:spcBef>
                <a:spcPts val="0"/>
              </a:spcBef>
              <a:spcAft>
                <a:spcPts val="100"/>
              </a:spcAft>
              <a:buNone/>
            </a:pPr>
            <a:r>
              <a:rPr lang="en-US" sz="1200" dirty="0">
                <a:solidFill>
                  <a:srgbClr val="5B6472"/>
                </a:solidFill>
              </a:rPr>
              <a:t>Overall cost</a:t>
            </a:r>
          </a:p>
          <a:p>
            <a:pPr algn="ctr" marL="0" indent="0">
              <a:spcBef>
                <a:spcPts val="0"/>
              </a:spcBef>
              <a:spcAft>
                <a:spcPts val="0"/>
              </a:spcAft>
              <a:buNone/>
            </a:pPr>
            <a:r>
              <a:rPr lang="en-US" sz="1200" b="1" dirty="0">
                <a:solidFill>
                  <a:srgbClr val="2E7D4F"/>
                </a:solidFill>
              </a:rPr>
              <a:t>RDP ≤ LDP &lt; ODP</a:t>
            </a:r>
          </a:p>
        </p:txBody>
      </p:sp>
      <p:sp>
        <p:nvSpPr>
          <p:cNvPr id="157" name="Cost chip Quality of life"/>
          <p:cNvSpPr txBox="1"/>
          <p:nvPr/>
        </p:nvSpPr>
        <p:spPr>
          <a:xfrm>
            <a:off x="3864864" y="15835014"/>
            <a:ext cx="1498092" cy="841248"/>
          </a:xfrm>
          <a:prstGeom prst="roundRect">
            <a:avLst>
              <a:gd name="adj" fmla="val 12000"/>
            </a:avLst>
          </a:prstGeom>
          <a:solidFill>
            <a:srgbClr val="E3F2E8"/>
          </a:solidFill>
          <a:ln>
            <a:noFill/>
          </a:ln>
        </p:spPr>
        <p:txBody>
          <a:bodyPr wrap="square" lIns="27432" tIns="27432" rIns="27432" bIns="27432" anchor="ctr">
            <a:noAutofit/>
          </a:bodyPr>
          <a:lstStyle/>
          <a:p>
            <a:pPr algn="ctr" marL="0" indent="0">
              <a:spcBef>
                <a:spcPts val="0"/>
              </a:spcBef>
              <a:spcAft>
                <a:spcPts val="100"/>
              </a:spcAft>
              <a:buNone/>
            </a:pPr>
            <a:r>
              <a:rPr lang="en-US" sz="1200" dirty="0">
                <a:solidFill>
                  <a:srgbClr val="5B6472"/>
                </a:solidFill>
              </a:rPr>
              <a:t>Quality of life</a:t>
            </a:r>
          </a:p>
          <a:p>
            <a:pPr algn="ctr" marL="0" indent="0">
              <a:spcBef>
                <a:spcPts val="0"/>
              </a:spcBef>
              <a:spcAft>
                <a:spcPts val="0"/>
              </a:spcAft>
              <a:buNone/>
            </a:pPr>
            <a:r>
              <a:rPr lang="en-US" sz="1300" b="1" dirty="0">
                <a:solidFill>
                  <a:srgbClr val="2E7D4F"/>
                </a:solidFill>
              </a:rPr>
              <a:t>RDP &gt; LDP</a:t>
            </a:r>
          </a:p>
        </p:txBody>
      </p:sp>
      <p:sp>
        <p:nvSpPr>
          <p:cNvPr id="158" name="Cost bullets"/>
          <p:cNvSpPr txBox="1"/>
          <p:nvPr/>
        </p:nvSpPr>
        <p:spPr>
          <a:xfrm>
            <a:off x="685800" y="16785990"/>
            <a:ext cx="4677156" cy="777240"/>
          </a:xfrm>
          <a:prstGeom prst="rect">
            <a:avLst/>
          </a:prstGeom>
          <a:noFill/>
          <a:ln>
            <a:noFill/>
          </a:ln>
        </p:spPr>
        <p:txBody>
          <a:bodyPr wrap="square" lIns="0" tIns="0" rIns="0" bIns="0" anchor="t">
            <a:noAutofit/>
          </a:bodyPr>
          <a:lstStyle/>
          <a:p>
            <a:pPr marL="155448" indent="-155448">
              <a:spcBef>
                <a:spcPts val="0"/>
              </a:spcBef>
              <a:spcAft>
                <a:spcPts val="300"/>
              </a:spcAft>
              <a:buClr>
                <a:srgbClr val="213C80"/>
              </a:buClr>
              <a:buFont typeface="Arial"/>
              <a:buChar char="•"/>
            </a:pPr>
            <a:r>
              <a:rPr lang="en-US" sz="1400" dirty="0"/>
              <a:t>Theatre cost offset by shorter stay</a:t>
            </a:r>
          </a:p>
          <a:p>
            <a:pPr marL="155448" indent="-155448">
              <a:spcBef>
                <a:spcPts val="0"/>
              </a:spcBef>
              <a:spcAft>
                <a:spcPts val="0"/>
              </a:spcAft>
              <a:buClr>
                <a:srgbClr val="213C80"/>
              </a:buClr>
              <a:buFont typeface="Arial"/>
              <a:buChar char="•"/>
            </a:pPr>
            <a:r>
              <a:rPr lang="en-US" sz="1400" dirty="0"/>
              <a:t>More QALYs than LDP at similar cost</a:t>
            </a:r>
          </a:p>
        </p:txBody>
      </p:sp>
      <p:sp>
        <p:nvSpPr>
          <p:cNvPr id="159" name="Section 6 title bar"/>
          <p:cNvSpPr txBox="1"/>
          <p:nvPr/>
        </p:nvSpPr>
        <p:spPr>
          <a:xfrm>
            <a:off x="5774436" y="15231510"/>
            <a:ext cx="4677156"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60" name="Section 6 number"/>
          <p:cNvSpPr txBox="1"/>
          <p:nvPr/>
        </p:nvSpPr>
        <p:spPr>
          <a:xfrm>
            <a:off x="5865876" y="15295518"/>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06</a:t>
            </a:r>
          </a:p>
        </p:txBody>
      </p:sp>
      <p:sp>
        <p:nvSpPr>
          <p:cNvPr id="161" name="Section 6 title"/>
          <p:cNvSpPr txBox="1"/>
          <p:nvPr/>
        </p:nvSpPr>
        <p:spPr>
          <a:xfrm>
            <a:off x="6377940" y="15231510"/>
            <a:ext cx="3982212"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CHALLENGES</a:t>
            </a:r>
          </a:p>
        </p:txBody>
      </p:sp>
      <p:sp>
        <p:nvSpPr>
          <p:cNvPr id="162" name="Challenge circle Operative time"/>
          <p:cNvSpPr txBox="1"/>
          <p:nvPr/>
        </p:nvSpPr>
        <p:spPr>
          <a:xfrm>
            <a:off x="5774436" y="15871590"/>
            <a:ext cx="512064" cy="512064"/>
          </a:xfrm>
          <a:prstGeom prst="ellipse">
            <a:avLst/>
          </a:prstGeom>
          <a:solidFill>
            <a:srgbClr val="BB890B"/>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63" name="Icon Operative time" descr="Operative time"/>
          <p:cNvPicPr>
            <a:picLocks noChangeAspect="1"/>
          </p:cNvPicPr>
          <p:nvPr/>
        </p:nvPicPr>
        <p:blipFill>
          <a:blip r:embed="rIdImgFaClock"/>
          <a:stretch>
            <a:fillRect/>
          </a:stretch>
        </p:blipFill>
        <p:spPr>
          <a:xfrm>
            <a:off x="5902452" y="15999606"/>
            <a:ext cx="256032" cy="256032"/>
          </a:xfrm>
          <a:prstGeom prst="rect">
            <a:avLst/>
          </a:prstGeom>
        </p:spPr>
      </p:pic>
      <p:sp>
        <p:nvSpPr>
          <p:cNvPr id="164" name="Challenge Operative time"/>
          <p:cNvSpPr txBox="1"/>
          <p:nvPr/>
        </p:nvSpPr>
        <p:spPr>
          <a:xfrm>
            <a:off x="6432804" y="15835014"/>
            <a:ext cx="4018788" cy="640080"/>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Operative time</a:t>
            </a:r>
          </a:p>
          <a:p>
            <a:pPr marL="0" indent="0">
              <a:spcBef>
                <a:spcPts val="0"/>
              </a:spcBef>
              <a:spcAft>
                <a:spcPts val="0"/>
              </a:spcAft>
              <a:buNone/>
            </a:pPr>
            <a:r>
              <a:rPr lang="en-US" sz="1350" dirty="0">
                <a:solidFill>
                  <a:srgbClr val="1F2937"/>
                </a:solidFill>
              </a:rPr>
              <a:t>Docking adds time</a:t>
            </a:r>
          </a:p>
        </p:txBody>
      </p:sp>
      <p:sp>
        <p:nvSpPr>
          <p:cNvPr id="165" name="Challenge circle Team &amp; training"/>
          <p:cNvSpPr txBox="1"/>
          <p:nvPr/>
        </p:nvSpPr>
        <p:spPr>
          <a:xfrm>
            <a:off x="5774436" y="16493382"/>
            <a:ext cx="512064" cy="512064"/>
          </a:xfrm>
          <a:prstGeom prst="ellipse">
            <a:avLst/>
          </a:prstGeom>
          <a:solidFill>
            <a:srgbClr val="BB890B"/>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66" name="Icon Team &amp; training" descr="Team &amp; training"/>
          <p:cNvPicPr>
            <a:picLocks noChangeAspect="1"/>
          </p:cNvPicPr>
          <p:nvPr/>
        </p:nvPicPr>
        <p:blipFill>
          <a:blip r:embed="rIdImgFaUserDoctor"/>
          <a:stretch>
            <a:fillRect/>
          </a:stretch>
        </p:blipFill>
        <p:spPr>
          <a:xfrm>
            <a:off x="5902452" y="16621398"/>
            <a:ext cx="256032" cy="256032"/>
          </a:xfrm>
          <a:prstGeom prst="rect">
            <a:avLst/>
          </a:prstGeom>
        </p:spPr>
      </p:pic>
      <p:sp>
        <p:nvSpPr>
          <p:cNvPr id="167" name="Challenge Team &amp; training"/>
          <p:cNvSpPr txBox="1"/>
          <p:nvPr/>
        </p:nvSpPr>
        <p:spPr>
          <a:xfrm>
            <a:off x="6432804" y="16456806"/>
            <a:ext cx="4018788" cy="640080"/>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Team &amp; training</a:t>
            </a:r>
          </a:p>
          <a:p>
            <a:pPr marL="0" indent="0">
              <a:spcBef>
                <a:spcPts val="0"/>
              </a:spcBef>
              <a:spcAft>
                <a:spcPts val="0"/>
              </a:spcAft>
              <a:buNone/>
            </a:pPr>
            <a:r>
              <a:rPr lang="en-US" sz="1350" dirty="0">
                <a:solidFill>
                  <a:srgbClr val="1F2937"/>
                </a:solidFill>
              </a:rPr>
              <a:t>Few training centres</a:t>
            </a:r>
          </a:p>
        </p:txBody>
      </p:sp>
      <p:sp>
        <p:nvSpPr>
          <p:cNvPr id="168" name="Challenge circle Access &amp; cost"/>
          <p:cNvSpPr txBox="1"/>
          <p:nvPr/>
        </p:nvSpPr>
        <p:spPr>
          <a:xfrm>
            <a:off x="5774436" y="17115174"/>
            <a:ext cx="512064" cy="512064"/>
          </a:xfrm>
          <a:prstGeom prst="ellipse">
            <a:avLst/>
          </a:prstGeom>
          <a:solidFill>
            <a:srgbClr val="BB890B"/>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69" name="Icon Access &amp; cost" descr="Access &amp; cost"/>
          <p:cNvPicPr>
            <a:picLocks noChangeAspect="1"/>
          </p:cNvPicPr>
          <p:nvPr/>
        </p:nvPicPr>
        <p:blipFill>
          <a:blip r:embed="rIdImgFaScaleUnbalanced"/>
          <a:stretch>
            <a:fillRect/>
          </a:stretch>
        </p:blipFill>
        <p:spPr>
          <a:xfrm>
            <a:off x="5902452" y="17243190"/>
            <a:ext cx="256032" cy="256032"/>
          </a:xfrm>
          <a:prstGeom prst="rect">
            <a:avLst/>
          </a:prstGeom>
        </p:spPr>
      </p:pic>
      <p:sp>
        <p:nvSpPr>
          <p:cNvPr id="170" name="Challenge Access &amp; cost"/>
          <p:cNvSpPr txBox="1"/>
          <p:nvPr/>
        </p:nvSpPr>
        <p:spPr>
          <a:xfrm>
            <a:off x="6432804" y="17078598"/>
            <a:ext cx="4018788" cy="640080"/>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Access &amp; cost</a:t>
            </a:r>
          </a:p>
          <a:p>
            <a:pPr marL="0" indent="0">
              <a:spcBef>
                <a:spcPts val="0"/>
              </a:spcBef>
              <a:spcAft>
                <a:spcPts val="0"/>
              </a:spcAft>
              <a:buNone/>
            </a:pPr>
            <a:r>
              <a:rPr lang="en-US" sz="1350" dirty="0">
                <a:solidFill>
                  <a:srgbClr val="1F2937"/>
                </a:solidFill>
              </a:rPr>
              <a:t>High upfront cost; unequal access</a:t>
            </a:r>
          </a:p>
        </p:txBody>
      </p:sp>
      <p:sp>
        <p:nvSpPr>
          <p:cNvPr id="171" name="Conclusion box"/>
          <p:cNvSpPr txBox="1"/>
          <p:nvPr/>
        </p:nvSpPr>
        <p:spPr>
          <a:xfrm>
            <a:off x="548640" y="17810118"/>
            <a:ext cx="10040112" cy="1502010"/>
          </a:xfrm>
          <a:prstGeom prst="roundRect">
            <a:avLst>
              <a:gd name="adj" fmla="val 7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72" name="Conclusion"/>
          <p:cNvSpPr txBox="1"/>
          <p:nvPr/>
        </p:nvSpPr>
        <p:spPr>
          <a:xfrm>
            <a:off x="822960" y="17810118"/>
            <a:ext cx="8193024" cy="1502010"/>
          </a:xfrm>
          <a:prstGeom prst="rect">
            <a:avLst/>
          </a:prstGeom>
          <a:noFill/>
          <a:ln>
            <a:noFill/>
          </a:ln>
        </p:spPr>
        <p:txBody>
          <a:bodyPr wrap="square" lIns="0" tIns="0" rIns="0" bIns="0" anchor="ctr">
            <a:noAutofit/>
          </a:bodyPr>
          <a:lstStyle/>
          <a:p>
            <a:pPr marL="0" indent="0">
              <a:spcBef>
                <a:spcPts val="0"/>
              </a:spcBef>
              <a:spcAft>
                <a:spcPts val="400"/>
              </a:spcAft>
              <a:buNone/>
            </a:pPr>
            <a:r>
              <a:rPr lang="en-US" sz="1400" b="1" dirty="0">
                <a:solidFill>
                  <a:srgbClr val="BB890B"/>
                </a:solidFill>
              </a:rPr>
              <a:t>CONCLUSION</a:t>
            </a:r>
          </a:p>
          <a:p>
            <a:pPr marL="0" indent="0">
              <a:spcBef>
                <a:spcPts val="0"/>
              </a:spcBef>
              <a:spcAft>
                <a:spcPts val="0"/>
              </a:spcAft>
              <a:buNone/>
            </a:pPr>
            <a:r>
              <a:rPr lang="en-US" sz="1600" b="1" dirty="0">
                <a:solidFill>
                  <a:srgbClr val="FFFFFF"/>
                </a:solidFill>
              </a:rPr>
              <a:t xml:space="preserve">RDP offers greater precision, better outcomes and more spleen preservation than open and laparoscopic surgery, and is cost-effective. </a:t>
            </a:r>
            <a:r>
              <a:rPr lang="en-US" sz="1600" dirty="0">
                <a:solidFill>
                  <a:srgbClr val="D6DCEB"/>
                </a:solidFill>
              </a:rPr>
              <a:t>Wider adoption needs training and equitable access.</a:t>
            </a:r>
          </a:p>
        </p:txBody>
      </p:sp>
      <p:sp>
        <p:nvSpPr>
          <p:cNvPr id="173" name="QR tile"/>
          <p:cNvSpPr txBox="1"/>
          <p:nvPr/>
        </p:nvSpPr>
        <p:spPr>
          <a:xfrm>
            <a:off x="9427464" y="18049059"/>
            <a:ext cx="1024128" cy="1024128"/>
          </a:xfrm>
          <a:prstGeom prst="roundRect">
            <a:avLst>
              <a:gd name="adj" fmla="val 6000"/>
            </a:avLst>
          </a:prstGeom>
          <a:solidFill>
            <a:srgbClr val="FFFFFF"/>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74" name="QR code" descr="QR code linking to the full paper, doi.org/10.1016/j.lers.2025.02.001"/>
          <p:cNvPicPr>
            <a:picLocks noChangeAspect="1"/>
          </p:cNvPicPr>
          <p:nvPr/>
        </p:nvPicPr>
        <p:blipFill>
          <a:blip r:embed="rIdImgQR"/>
          <a:stretch>
            <a:fillRect/>
          </a:stretch>
        </p:blipFill>
        <p:spPr>
          <a:xfrm>
            <a:off x="9491472" y="18113067"/>
            <a:ext cx="896112" cy="896112"/>
          </a:xfrm>
          <a:prstGeom prst="rect">
            <a:avLst/>
          </a:prstGeom>
        </p:spPr>
      </p:pic>
    </p:spTree>
    <p:extLst>
      <p:ext uri="{BB962C8B-B14F-4D97-AF65-F5344CB8AC3E}">
        <p14:creationId xmlns:p14="http://schemas.microsoft.com/office/powerpoint/2010/main" val="3062944081"/>
      </p:ext>
    </p:extLst>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 to add title</dc:title>
  <dc:creator>EBMT</dc:creator>
  <cp:lastModifiedBy>Anne Walker</cp:lastModifiedBy>
  <cp:revision>30</cp:revision>
  <dcterms:modified xsi:type="dcterms:W3CDTF">2026-07-06T21:16:34Z</dcterms:modified>
</cp:coreProperties>
</file>